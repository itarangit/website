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1" b="-201"/>
          <a:stretch/>
        </p:blipFill>
        <p:spPr>
          <a:xfrm>
            <a:off x="0" y="0"/>
            <a:ext cx="758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0" r="0" t="-3" b="-3"/>
          <a:stretch/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324698" y="-286207"/>
            <a:ext cx="1429207" cy="1429207"/>
          </a:xfrm>
          <a:prstGeom prst="ellips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846613" y="6277356"/>
            <a:ext cx="857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2026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103" b="103"/>
          <a:stretch/>
        </p:blipFill>
        <p:spPr>
          <a:xfrm>
            <a:off x="1143000" y="471830"/>
            <a:ext cx="3029407" cy="7616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1920240"/>
            <a:ext cx="10077602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India's 1st </a:t>
            </a:r>
            <a:pPr algn="l" indent="0" marL="0">
              <a:buNone/>
            </a:pPr>
            <a:r>
              <a:rPr lang="en-US" sz="4800" b="1" spc="-75" kern="0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 Battery Financing</a:t>
            </a:r>
            <a:pPr algn="l" indent="0" marL="0">
              <a:buNone/>
            </a:pPr>
            <a:endParaRPr lang="en-US" sz="4800" dirty="0"/>
          </a:p>
          <a:p>
            <a:pPr algn="l" indent="0" marL="0">
              <a:buNone/>
            </a:pPr>
            <a:r>
              <a:rPr lang="en-US" sz="4800" b="1" spc="-75" kern="0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&amp; Lifecycle Management</a:t>
            </a:r>
            <a:pPr algn="l" indent="0" marL="0">
              <a:buNone/>
            </a:pPr>
            <a:endParaRPr lang="en-US" sz="4800" dirty="0"/>
          </a:p>
          <a:p>
            <a:pPr algn="l" indent="0" marL="0">
              <a:buNone/>
            </a:pPr>
            <a:r>
              <a:rPr lang="en-US" sz="4800" b="1" spc="-75" kern="0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Ecosystem </a:t>
            </a:r>
            <a:endParaRPr lang="en-US" sz="48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4160520"/>
            <a:ext cx="7720279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batteries into programmable financial assets through smart telemetry, behavioral risk scoring, and lifecycle intelligence.</a:t>
            </a:r>
            <a:endParaRPr lang="en-US" sz="2100" dirty="0"/>
          </a:p>
        </p:txBody>
      </p:sp>
      <p:sp>
        <p:nvSpPr>
          <p:cNvPr id="12" name="Shape 7"/>
          <p:cNvSpPr/>
          <p:nvPr/>
        </p:nvSpPr>
        <p:spPr>
          <a:xfrm>
            <a:off x="1143000" y="5852160"/>
            <a:ext cx="3981298" cy="533095"/>
          </a:xfrm>
          <a:prstGeom prst="roundRect">
            <a:avLst>
              <a:gd name="adj" fmla="val 4900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380744" y="5975604"/>
            <a:ext cx="41458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8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PRE-SEED ROUND | RAISING </a:t>
            </a:r>
            <a:pPr algn="l" indent="0" marL="0">
              <a:buNone/>
            </a:pPr>
            <a:r>
              <a:rPr lang="en-US" sz="1500" b="1" spc="38" kern="0" dirty="0">
                <a:solidFill>
                  <a:srgbClr val="F973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₹8 CRORE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1" b="-201"/>
          <a:stretch/>
        </p:blipFill>
        <p:spPr>
          <a:xfrm>
            <a:off x="0" y="0"/>
            <a:ext cx="758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0" r="0" t="-3" b="-3"/>
          <a:stretch/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695" y="952805"/>
            <a:ext cx="10858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Hook — Why Now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1733702"/>
            <a:ext cx="76965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confluence of market growth, financial risk, and regulatory mandates creates the perfect storm for battery intelligence.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4" b="-14"/>
          <a:stretch/>
        </p:blipFill>
        <p:spPr>
          <a:xfrm>
            <a:off x="761695" y="2781605"/>
            <a:ext cx="5191049" cy="159288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28700" y="3010205"/>
            <a:ext cx="4886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1.2 Million</a:t>
            </a:r>
            <a:endParaRPr lang="en-US" sz="3100" dirty="0"/>
          </a:p>
        </p:txBody>
      </p:sp>
      <p:sp>
        <p:nvSpPr>
          <p:cNvPr id="10" name="Text 5"/>
          <p:cNvSpPr txBox="1"/>
          <p:nvPr/>
        </p:nvSpPr>
        <p:spPr>
          <a:xfrm>
            <a:off x="1028700" y="3486607"/>
            <a:ext cx="4810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Electric 3-Wheelers by FY'27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1028700" y="3771900"/>
            <a:ext cx="47722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single vehicle needs a financed battery, creating massive demand for structured capital.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4" b="-14"/>
          <a:stretch/>
        </p:blipFill>
        <p:spPr>
          <a:xfrm>
            <a:off x="6238951" y="2781605"/>
            <a:ext cx="5191049" cy="159288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05956" y="3010205"/>
            <a:ext cx="4886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~90%</a:t>
            </a:r>
            <a:endParaRPr lang="en-US" sz="3100" dirty="0"/>
          </a:p>
        </p:txBody>
      </p:sp>
      <p:sp>
        <p:nvSpPr>
          <p:cNvPr id="14" name="Text 8"/>
          <p:cNvSpPr txBox="1"/>
          <p:nvPr/>
        </p:nvSpPr>
        <p:spPr>
          <a:xfrm>
            <a:off x="6505956" y="3486607"/>
            <a:ext cx="4810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Informal Battery Financing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6505956" y="3771900"/>
            <a:ext cx="47722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lending is broken, leading to high NPAs and thin margins due to "blind asset" risk.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4" b="-14"/>
          <a:stretch/>
        </p:blipFill>
        <p:spPr>
          <a:xfrm>
            <a:off x="761695" y="4659782"/>
            <a:ext cx="5191049" cy="159288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8700" y="4888382"/>
            <a:ext cx="4886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+10% YoY</a:t>
            </a:r>
            <a:endParaRPr lang="en-US" sz="3100" dirty="0"/>
          </a:p>
        </p:txBody>
      </p:sp>
      <p:sp>
        <p:nvSpPr>
          <p:cNvPr id="18" name="Text 11"/>
          <p:cNvSpPr txBox="1"/>
          <p:nvPr/>
        </p:nvSpPr>
        <p:spPr>
          <a:xfrm>
            <a:off x="1028700" y="5364785"/>
            <a:ext cx="4810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Lithium Pricing Volatility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1028700" y="5650078"/>
            <a:ext cx="47722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costs in FY'26 make ownership harder and financing essential for drivers.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4" b="-14"/>
          <a:stretch/>
        </p:blipFill>
        <p:spPr>
          <a:xfrm>
            <a:off x="6238951" y="4659782"/>
            <a:ext cx="5191049" cy="159288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505956" y="4888382"/>
            <a:ext cx="4886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Mandatory</a:t>
            </a:r>
            <a:endParaRPr lang="en-US" sz="3100" dirty="0"/>
          </a:p>
        </p:txBody>
      </p:sp>
      <p:sp>
        <p:nvSpPr>
          <p:cNvPr id="22" name="Text 14"/>
          <p:cNvSpPr txBox="1"/>
          <p:nvPr/>
        </p:nvSpPr>
        <p:spPr>
          <a:xfrm>
            <a:off x="6505956" y="5364785"/>
            <a:ext cx="4810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Battery Waste Management Rules (2022)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6505956" y="5650078"/>
            <a:ext cx="47722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EPR compliance laws force OEMs to track lifecycle, creating a regulatory moat.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761695" y="6633058"/>
            <a:ext cx="10668305" cy="1429207"/>
          </a:xfrm>
          <a:prstGeom prst="roundRect">
            <a:avLst>
              <a:gd name="adj" fmla="val 10237"/>
            </a:avLst>
          </a:prstGeom>
          <a:solidFill>
            <a:srgbClr val="0A19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1047902" y="7061911"/>
            <a:ext cx="571500" cy="5715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1248156" y="7232904"/>
            <a:ext cx="171907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848002" y="6918350"/>
            <a:ext cx="9411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iTarang Thesis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1848002" y="7261250"/>
            <a:ext cx="93726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unlock capital at scale, the battery must evolve from a "consumable part" into a </a:t>
            </a:r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transparent, data-rich, and programmable financial asset</a:t>
            </a:r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28" b="28"/>
          <a:stretch/>
        </p:blipFill>
        <p:spPr>
          <a:xfrm>
            <a:off x="571500" y="381305"/>
            <a:ext cx="1514246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7" r="-7" t="0" b="0"/>
          <a:stretch/>
        </p:blipFill>
        <p:spPr>
          <a:xfrm>
            <a:off x="0" y="4953305"/>
            <a:ext cx="12191695" cy="19046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" y="381305"/>
            <a:ext cx="699424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Problem: Three Systemic Gaps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933602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EV battery financing ecosystem is currently broken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5" b="-5"/>
          <a:stretch/>
        </p:blipFill>
        <p:spPr>
          <a:xfrm>
            <a:off x="571500" y="1543507"/>
            <a:ext cx="3492094" cy="4757623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66851" y="2562149"/>
            <a:ext cx="2905049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66851" y="1837944"/>
            <a:ext cx="533095" cy="53309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19556" y="1990649"/>
            <a:ext cx="228600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552651" y="1979676"/>
            <a:ext cx="205191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Lenders Fly Blind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866851" y="2838298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1037844" y="2762402"/>
            <a:ext cx="28099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Data: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Lenders lack visibility into battery health (SOH) or driver usage patterns.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866851" y="3676802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037844" y="3600907"/>
            <a:ext cx="28099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Perception: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data, batteries are treated as "blind assets" with unpredictable depreciation.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66851" y="4515307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1037844" y="4438498"/>
            <a:ext cx="28099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Recovery: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mechanism to remotely secure or recover assets in default scenarios.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66851" y="5277002"/>
            <a:ext cx="2905049" cy="733349"/>
          </a:xfrm>
          <a:prstGeom prst="roundRect">
            <a:avLst>
              <a:gd name="adj" fmla="val 25909"/>
            </a:avLst>
          </a:prstGeom>
          <a:solidFill>
            <a:srgbClr val="F8FAFC"/>
          </a:solidFill>
          <a:ln/>
        </p:spPr>
      </p:sp>
      <p:sp>
        <p:nvSpPr>
          <p:cNvPr id="21" name="Shape 15"/>
          <p:cNvSpPr/>
          <p:nvPr/>
        </p:nvSpPr>
        <p:spPr>
          <a:xfrm>
            <a:off x="866851" y="5277002"/>
            <a:ext cx="38405" cy="733349"/>
          </a:xfrm>
          <a:prstGeom prst="roundRect">
            <a:avLst>
              <a:gd name="adj" fmla="val 49474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1057046" y="5429707"/>
            <a:ext cx="26654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057046" y="5639105"/>
            <a:ext cx="2760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NPAs &amp; Reluctance to Lend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5" b="-5"/>
          <a:stretch/>
        </p:blipFill>
        <p:spPr>
          <a:xfrm>
            <a:off x="4349801" y="1543507"/>
            <a:ext cx="3492094" cy="4757623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645152" y="2562149"/>
            <a:ext cx="2905049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645152" y="1837944"/>
            <a:ext cx="533095" cy="53309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4768596" y="1990649"/>
            <a:ext cx="286207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30952" y="1979676"/>
            <a:ext cx="2267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Drivers Locked Out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4645152" y="2838298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816145" y="2762402"/>
            <a:ext cx="28099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 Credit Files: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Most drivers lack formal credit history, making them invisible to banks.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4645152" y="3676802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4816145" y="3600907"/>
            <a:ext cx="28099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Informal Traps: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Forced to rely on informal lenders with punitive interest rates (30-60%).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645152" y="4515307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816145" y="4438498"/>
            <a:ext cx="28099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Approvals: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Manual verification takes days, costing daily wage earners crucial income.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4645152" y="5277002"/>
            <a:ext cx="2905049" cy="733349"/>
          </a:xfrm>
          <a:prstGeom prst="roundRect">
            <a:avLst>
              <a:gd name="adj" fmla="val 25909"/>
            </a:avLst>
          </a:prstGeom>
          <a:solidFill>
            <a:srgbClr val="F8FAFC"/>
          </a:solidFill>
          <a:ln/>
        </p:spPr>
      </p:sp>
      <p:sp>
        <p:nvSpPr>
          <p:cNvPr id="36" name="Shape 28"/>
          <p:cNvSpPr/>
          <p:nvPr/>
        </p:nvSpPr>
        <p:spPr>
          <a:xfrm>
            <a:off x="4645152" y="5277002"/>
            <a:ext cx="38405" cy="733349"/>
          </a:xfrm>
          <a:prstGeom prst="roundRect">
            <a:avLst>
              <a:gd name="adj" fmla="val 494741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835347" y="5429707"/>
            <a:ext cx="26654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4835347" y="5639105"/>
            <a:ext cx="29379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Exclusion &amp; High Costs</a:t>
            </a:r>
            <a:endParaRPr lang="en-US" sz="11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5" b="-5"/>
          <a:stretch/>
        </p:blipFill>
        <p:spPr>
          <a:xfrm>
            <a:off x="8128102" y="1543507"/>
            <a:ext cx="3492094" cy="4757623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8423453" y="2562149"/>
            <a:ext cx="2905049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8423453" y="1837944"/>
            <a:ext cx="533095" cy="533095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576158" y="1990649"/>
            <a:ext cx="228600" cy="22860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109253" y="1979676"/>
            <a:ext cx="25566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Lifecycle Unmanaged</a:t>
            </a:r>
            <a:endParaRPr lang="en-US" sz="1600" dirty="0"/>
          </a:p>
        </p:txBody>
      </p:sp>
      <p:sp>
        <p:nvSpPr>
          <p:cNvPr id="44" name="Shape 34"/>
          <p:cNvSpPr/>
          <p:nvPr/>
        </p:nvSpPr>
        <p:spPr>
          <a:xfrm>
            <a:off x="8423453" y="2838298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8594446" y="2762402"/>
            <a:ext cx="28099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Structured End-of-Life: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Assets often vanish or are scrapped informally, losing residual value.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423453" y="3676802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8594446" y="3600907"/>
            <a:ext cx="28099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Risk: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Rising EPR mandates create liability for OEMs without track-and-trace systems.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8423453" y="4515307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8594446" y="4438498"/>
            <a:ext cx="28099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Value: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Potential revenue from second-life applications is lost due to lack of health data.</a:t>
            </a:r>
            <a:endParaRPr lang="en-US" sz="1200" dirty="0"/>
          </a:p>
        </p:txBody>
      </p:sp>
      <p:sp>
        <p:nvSpPr>
          <p:cNvPr id="50" name="Shape 40"/>
          <p:cNvSpPr/>
          <p:nvPr/>
        </p:nvSpPr>
        <p:spPr>
          <a:xfrm>
            <a:off x="8423453" y="5277002"/>
            <a:ext cx="2905049" cy="733349"/>
          </a:xfrm>
          <a:prstGeom prst="roundRect">
            <a:avLst>
              <a:gd name="adj" fmla="val 25909"/>
            </a:avLst>
          </a:prstGeom>
          <a:solidFill>
            <a:srgbClr val="F8FAFC"/>
          </a:solidFill>
          <a:ln/>
        </p:spPr>
      </p:sp>
      <p:sp>
        <p:nvSpPr>
          <p:cNvPr id="51" name="Shape 41"/>
          <p:cNvSpPr/>
          <p:nvPr/>
        </p:nvSpPr>
        <p:spPr>
          <a:xfrm>
            <a:off x="8423453" y="5277002"/>
            <a:ext cx="38405" cy="733349"/>
          </a:xfrm>
          <a:prstGeom prst="roundRect">
            <a:avLst>
              <a:gd name="adj" fmla="val 494741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8613648" y="5429707"/>
            <a:ext cx="26654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8613648" y="5639105"/>
            <a:ext cx="29379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Value &amp; Regulatory Exposure</a:t>
            </a:r>
            <a:endParaRPr lang="en-US" sz="1100" dirty="0"/>
          </a:p>
        </p:txBody>
      </p:sp>
      <p:sp>
        <p:nvSpPr>
          <p:cNvPr id="54" name="Shape 44"/>
          <p:cNvSpPr/>
          <p:nvPr/>
        </p:nvSpPr>
        <p:spPr>
          <a:xfrm>
            <a:off x="571500" y="6681521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571500" y="6881774"/>
            <a:ext cx="27770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Market Analysis, Primary Research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11454689" y="6881774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76402" y="5429707"/>
            <a:ext cx="1904695" cy="1904695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848197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Opportunity: Recurring &amp; Growing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3602"/>
            <a:ext cx="697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Targeting the high-velocity replacement market in India's EV 3W sector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0" b="50"/>
          <a:stretch/>
        </p:blipFill>
        <p:spPr>
          <a:xfrm>
            <a:off x="10410444" y="381305"/>
            <a:ext cx="1209751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86500" y="1543507"/>
            <a:ext cx="5333695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86754" y="1770278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96482" y="1903781"/>
            <a:ext cx="237744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95744" y="1742846"/>
            <a:ext cx="4439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 Lakh+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095744" y="2055571"/>
            <a:ext cx="44394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E-Auto Installed Base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86500" y="2646274"/>
            <a:ext cx="5333695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86754" y="2873959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1282" r="-1282" t="0" b="0"/>
          <a:stretch/>
        </p:blipFill>
        <p:spPr>
          <a:xfrm>
            <a:off x="6605626" y="3006547"/>
            <a:ext cx="219456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95744" y="2845613"/>
            <a:ext cx="4439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2-3 Years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095744" y="3158338"/>
            <a:ext cx="44394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Battery Replacement Cycle (Recurring Demand)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86500" y="3749040"/>
            <a:ext cx="5333695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86754" y="3976726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6605626" y="4110228"/>
            <a:ext cx="219456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95744" y="3949294"/>
            <a:ext cx="4439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UP, WB, Bihar, NCR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095744" y="4261104"/>
            <a:ext cx="44394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Geography (High Density)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286500" y="4851806"/>
            <a:ext cx="5333695" cy="1800454"/>
          </a:xfrm>
          <a:prstGeom prst="roundRect">
            <a:avLst>
              <a:gd name="adj" fmla="val 4299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734556" y="5052060"/>
            <a:ext cx="48006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Growth Drivers</a:t>
            </a:r>
            <a:endParaRPr lang="en-US" sz="13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86754" y="5095037"/>
            <a:ext cx="171907" cy="171907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6486754" y="5461711"/>
            <a:ext cx="114300" cy="1335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676949" y="5423306"/>
            <a:ext cx="5401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314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Usage:</a:t>
            </a:r>
            <a:pPr algn="l" indent="0" marL="0">
              <a:buNone/>
            </a:pPr>
            <a:r>
              <a:rPr lang="en-US" sz="1000" dirty="0">
                <a:solidFill>
                  <a:srgbClr val="4314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Lowest TCO/km vs ICE vehicles drives rapid adoption.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6486754" y="5737860"/>
            <a:ext cx="114300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676949" y="5699455"/>
            <a:ext cx="5287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314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Push:</a:t>
            </a:r>
            <a:pPr algn="l" indent="0" marL="0">
              <a:buNone/>
            </a:pPr>
            <a:r>
              <a:rPr lang="en-US" sz="1000" dirty="0">
                <a:solidFill>
                  <a:srgbClr val="4314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FAME subsidies &amp; PLI schemes accelerating manufacturing.</a:t>
            </a:r>
            <a:endParaRPr lang="en-US" sz="10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6486754" y="6014009"/>
            <a:ext cx="114300" cy="1335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676949" y="5975604"/>
            <a:ext cx="48198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314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Financing Gap:</a:t>
            </a:r>
            <a:pPr algn="l" indent="0" marL="0">
              <a:buNone/>
            </a:pPr>
            <a:r>
              <a:rPr lang="en-US" sz="1000" dirty="0">
                <a:solidFill>
                  <a:srgbClr val="4314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90% informal lending creates massive structured credit opportunity.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571500" y="1543507"/>
            <a:ext cx="5333695" cy="5115154"/>
          </a:xfrm>
          <a:prstGeom prst="roundRect">
            <a:avLst>
              <a:gd name="adj" fmla="val 7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2" b="-2"/>
          <a:stretch/>
        </p:blipFill>
        <p:spPr>
          <a:xfrm>
            <a:off x="771754" y="2192731"/>
            <a:ext cx="4934102" cy="3810305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3617366" y="2316175"/>
            <a:ext cx="1752905" cy="599846"/>
          </a:xfrm>
          <a:prstGeom prst="roundRect">
            <a:avLst>
              <a:gd name="adj" fmla="val 2903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3617366" y="2316175"/>
            <a:ext cx="38405" cy="599846"/>
          </a:xfrm>
          <a:prstGeom prst="roundRect">
            <a:avLst>
              <a:gd name="adj" fmla="val 453512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36" name="Text 25"/>
          <p:cNvSpPr txBox="1"/>
          <p:nvPr/>
        </p:nvSpPr>
        <p:spPr>
          <a:xfrm>
            <a:off x="3731666" y="2402129"/>
            <a:ext cx="15526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₹11,250 Cr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3654857" y="2659075"/>
            <a:ext cx="1705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Replacement TAM (Annual)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3578047" y="3588106"/>
            <a:ext cx="1790395" cy="599846"/>
          </a:xfrm>
          <a:prstGeom prst="roundRect">
            <a:avLst>
              <a:gd name="adj" fmla="val 2903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3578047" y="3588106"/>
            <a:ext cx="38405" cy="599846"/>
          </a:xfrm>
          <a:prstGeom prst="roundRect">
            <a:avLst>
              <a:gd name="adj" fmla="val 453512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3692347" y="3674059"/>
            <a:ext cx="1591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~1.2 Million</a:t>
            </a:r>
            <a:endParaRPr lang="en-US" sz="1300" dirty="0"/>
          </a:p>
        </p:txBody>
      </p:sp>
      <p:sp>
        <p:nvSpPr>
          <p:cNvPr id="41" name="Text 30"/>
          <p:cNvSpPr txBox="1"/>
          <p:nvPr/>
        </p:nvSpPr>
        <p:spPr>
          <a:xfrm>
            <a:off x="3600907" y="3931006"/>
            <a:ext cx="17757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3W Additions by FY'27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3588106" y="4860950"/>
            <a:ext cx="1781251" cy="599846"/>
          </a:xfrm>
          <a:prstGeom prst="roundRect">
            <a:avLst>
              <a:gd name="adj" fmla="val 2903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3588106" y="4860950"/>
            <a:ext cx="38405" cy="599846"/>
          </a:xfrm>
          <a:prstGeom prst="roundRect">
            <a:avLst>
              <a:gd name="adj" fmla="val 453512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3702406" y="4946904"/>
            <a:ext cx="15819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2.5 - 3 Lakh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3598164" y="5203850"/>
            <a:ext cx="1791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Batteries for Recycling/Year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571500" y="7033565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571500" y="7232904"/>
            <a:ext cx="41568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Vahan Dashboard, Industry Reports, Chargeup Estimates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11451946" y="7232904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F1F5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38705" y="5429707"/>
            <a:ext cx="1904695" cy="1904695"/>
          </a:xfrm>
          <a:prstGeom prst="ellips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381305"/>
            <a:ext cx="656905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Solution: iTarang Platform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933602"/>
            <a:ext cx="6143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integrated pillars turning batteries into programmable financial assets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" b="-3"/>
          <a:stretch/>
        </p:blipFill>
        <p:spPr>
          <a:xfrm>
            <a:off x="571500" y="1543507"/>
            <a:ext cx="3492094" cy="51297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66851" y="1837944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37844" y="2009851"/>
            <a:ext cx="267005" cy="2670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6851" y="2676449"/>
            <a:ext cx="29910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Battery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Telemetry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66851" y="3492094"/>
            <a:ext cx="114300" cy="1335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5451" y="3453689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IoT-Enabled: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Real-time tracking of State of Health (SOH) &amp; Charge (SOC).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866851" y="4292194"/>
            <a:ext cx="114300" cy="13350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95451" y="4253789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Patterns: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Granular data on distance, charging cycles, and temperature.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866851" y="5092294"/>
            <a:ext cx="114300" cy="13350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095451" y="5053889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Visibility: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GPS tracking ensures the asset never "goes dark".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866851" y="5625389"/>
            <a:ext cx="2905049" cy="752551"/>
          </a:xfrm>
          <a:prstGeom prst="roundRect">
            <a:avLst>
              <a:gd name="adj" fmla="val 24609"/>
            </a:avLst>
          </a:prstGeom>
          <a:solidFill>
            <a:srgbClr val="F8FAFC"/>
          </a:solidFill>
          <a:ln/>
        </p:spPr>
      </p:sp>
      <p:sp>
        <p:nvSpPr>
          <p:cNvPr id="20" name="Shape 12"/>
          <p:cNvSpPr/>
          <p:nvPr/>
        </p:nvSpPr>
        <p:spPr>
          <a:xfrm>
            <a:off x="866851" y="5625389"/>
            <a:ext cx="2905049" cy="9144"/>
          </a:xfrm>
          <a:prstGeom prst="roundRect">
            <a:avLst>
              <a:gd name="adj" fmla="val 2025316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1019556" y="5787238"/>
            <a:ext cx="270479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BENEFIT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019556" y="5996635"/>
            <a:ext cx="2844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Eliminates "Blind Asset" Risk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" b="-3"/>
          <a:stretch/>
        </p:blipFill>
        <p:spPr>
          <a:xfrm>
            <a:off x="4349801" y="1543507"/>
            <a:ext cx="3492094" cy="512978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4645152" y="1837944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816145" y="2009851"/>
            <a:ext cx="267005" cy="26700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645152" y="2676449"/>
            <a:ext cx="29910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Intelligent Risk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Evaluation Engine</a:t>
            </a:r>
            <a:endParaRPr lang="en-US" sz="18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4645152" y="3492094"/>
            <a:ext cx="114300" cy="13350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873752" y="3453689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Scoring: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Underwriting based on usage behavior, not just credit history.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4645152" y="4292194"/>
            <a:ext cx="114300" cy="13350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4873752" y="4253789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Decisions: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API-first integration for near-instant loan approvals.</a:t>
            </a:r>
            <a:endParaRPr lang="en-US" sz="12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4645152" y="4863694"/>
            <a:ext cx="114300" cy="13350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873752" y="4825289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Inclusion: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Unlocks credit for thin-file drivers via alternative data.</a:t>
            </a:r>
            <a:endParaRPr lang="en-US" sz="1200" dirty="0"/>
          </a:p>
        </p:txBody>
      </p:sp>
      <p:sp>
        <p:nvSpPr>
          <p:cNvPr id="33" name="Shape 20"/>
          <p:cNvSpPr/>
          <p:nvPr/>
        </p:nvSpPr>
        <p:spPr>
          <a:xfrm>
            <a:off x="4645152" y="5625389"/>
            <a:ext cx="2905049" cy="752551"/>
          </a:xfrm>
          <a:prstGeom prst="roundRect">
            <a:avLst>
              <a:gd name="adj" fmla="val 24609"/>
            </a:avLst>
          </a:prstGeom>
          <a:solidFill>
            <a:srgbClr val="F8FAFC"/>
          </a:solidFill>
          <a:ln/>
        </p:spPr>
      </p:sp>
      <p:sp>
        <p:nvSpPr>
          <p:cNvPr id="34" name="Shape 21"/>
          <p:cNvSpPr/>
          <p:nvPr/>
        </p:nvSpPr>
        <p:spPr>
          <a:xfrm>
            <a:off x="4645152" y="5625389"/>
            <a:ext cx="2905049" cy="9144"/>
          </a:xfrm>
          <a:prstGeom prst="roundRect">
            <a:avLst>
              <a:gd name="adj" fmla="val 2025316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22"/>
          <p:cNvSpPr txBox="1"/>
          <p:nvPr/>
        </p:nvSpPr>
        <p:spPr>
          <a:xfrm>
            <a:off x="4797857" y="5787238"/>
            <a:ext cx="270479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BENEFIT</a:t>
            </a:r>
            <a:endParaRPr lang="en-US" sz="900" dirty="0"/>
          </a:p>
        </p:txBody>
      </p:sp>
      <p:sp>
        <p:nvSpPr>
          <p:cNvPr id="36" name="Text 23"/>
          <p:cNvSpPr txBox="1"/>
          <p:nvPr/>
        </p:nvSpPr>
        <p:spPr>
          <a:xfrm>
            <a:off x="4797857" y="5996635"/>
            <a:ext cx="2844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Unlocks Institutional Capital</a:t>
            </a:r>
            <a:endParaRPr lang="en-US" sz="12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3" b="-3"/>
          <a:stretch/>
        </p:blipFill>
        <p:spPr>
          <a:xfrm>
            <a:off x="8128102" y="1543507"/>
            <a:ext cx="3492094" cy="5129784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8423453" y="1837944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594446" y="2009851"/>
            <a:ext cx="267005" cy="267005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8423453" y="2676449"/>
            <a:ext cx="29910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Lifecycle Asset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Management</a:t>
            </a:r>
            <a:endParaRPr lang="en-US" sz="18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8423453" y="3492094"/>
            <a:ext cx="114300" cy="133502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8652053" y="3453689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Control: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Immobilization capabilities for secure asset recovery.</a:t>
            </a:r>
            <a:endParaRPr lang="en-US" sz="12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100" b="-1100"/>
          <a:stretch/>
        </p:blipFill>
        <p:spPr>
          <a:xfrm>
            <a:off x="8423453" y="4292194"/>
            <a:ext cx="114300" cy="133502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8652053" y="4253789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Life: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Automated routing for repurposing based on health data.</a:t>
            </a:r>
            <a:endParaRPr lang="en-US" sz="120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100" b="-1100"/>
          <a:stretch/>
        </p:blipFill>
        <p:spPr>
          <a:xfrm>
            <a:off x="8423453" y="4863694"/>
            <a:ext cx="114300" cy="133502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8652053" y="4825289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Built-in EPR reporting tools for OEMs and partners.</a:t>
            </a:r>
            <a:endParaRPr lang="en-US" sz="1200" dirty="0"/>
          </a:p>
        </p:txBody>
      </p:sp>
      <p:sp>
        <p:nvSpPr>
          <p:cNvPr id="47" name="Shape 29"/>
          <p:cNvSpPr/>
          <p:nvPr/>
        </p:nvSpPr>
        <p:spPr>
          <a:xfrm>
            <a:off x="8423453" y="5625389"/>
            <a:ext cx="2905049" cy="752551"/>
          </a:xfrm>
          <a:prstGeom prst="roundRect">
            <a:avLst>
              <a:gd name="adj" fmla="val 24609"/>
            </a:avLst>
          </a:prstGeom>
          <a:solidFill>
            <a:srgbClr val="F8FAFC"/>
          </a:solidFill>
          <a:ln/>
        </p:spPr>
      </p:sp>
      <p:sp>
        <p:nvSpPr>
          <p:cNvPr id="48" name="Shape 30"/>
          <p:cNvSpPr/>
          <p:nvPr/>
        </p:nvSpPr>
        <p:spPr>
          <a:xfrm>
            <a:off x="8423453" y="5625389"/>
            <a:ext cx="2905049" cy="9144"/>
          </a:xfrm>
          <a:prstGeom prst="roundRect">
            <a:avLst>
              <a:gd name="adj" fmla="val 2025316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9" name="Text 31"/>
          <p:cNvSpPr txBox="1"/>
          <p:nvPr/>
        </p:nvSpPr>
        <p:spPr>
          <a:xfrm>
            <a:off x="8576158" y="5787238"/>
            <a:ext cx="270479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BENEFIT</a:t>
            </a:r>
            <a:endParaRPr lang="en-US" sz="900" dirty="0"/>
          </a:p>
        </p:txBody>
      </p:sp>
      <p:sp>
        <p:nvSpPr>
          <p:cNvPr id="50" name="Text 32"/>
          <p:cNvSpPr txBox="1"/>
          <p:nvPr/>
        </p:nvSpPr>
        <p:spPr>
          <a:xfrm>
            <a:off x="8576158" y="5996635"/>
            <a:ext cx="27047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Maximizes Residual Value</a:t>
            </a:r>
            <a:endParaRPr lang="en-US" sz="1200" dirty="0"/>
          </a:p>
        </p:txBody>
      </p:sp>
      <p:sp>
        <p:nvSpPr>
          <p:cNvPr id="51" name="Shape 33"/>
          <p:cNvSpPr/>
          <p:nvPr/>
        </p:nvSpPr>
        <p:spPr>
          <a:xfrm>
            <a:off x="571500" y="7054596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2" name="Text 34"/>
          <p:cNvSpPr txBox="1"/>
          <p:nvPr/>
        </p:nvSpPr>
        <p:spPr>
          <a:xfrm>
            <a:off x="571500" y="7253935"/>
            <a:ext cx="17748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Technology Stack</a:t>
            </a:r>
            <a:endParaRPr lang="en-US" sz="900" dirty="0"/>
          </a:p>
        </p:txBody>
      </p:sp>
      <p:sp>
        <p:nvSpPr>
          <p:cNvPr id="53" name="Text 35"/>
          <p:cNvSpPr txBox="1"/>
          <p:nvPr/>
        </p:nvSpPr>
        <p:spPr>
          <a:xfrm>
            <a:off x="11454689" y="7253935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58707" y="3524098"/>
            <a:ext cx="2857500" cy="2857500"/>
          </a:xfrm>
          <a:prstGeom prst="ellips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805677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Works: Asset-Centric Financing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3602"/>
            <a:ext cx="6430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lifecycle management powered by a compounding data engine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1543507"/>
            <a:ext cx="11048695" cy="1914754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61949" y="1742846"/>
            <a:ext cx="10573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Operational Workflow 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42" b="-842"/>
          <a:stretch/>
        </p:blipFill>
        <p:spPr>
          <a:xfrm>
            <a:off x="771754" y="1785823"/>
            <a:ext cx="190195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91402" y="3736238"/>
            <a:ext cx="5429707" cy="2857500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63563" y="3856025"/>
            <a:ext cx="497159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Data Flywheel Effect 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91656" y="3899002"/>
            <a:ext cx="171907" cy="17190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391656" y="4303166"/>
            <a:ext cx="267005" cy="2670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3251" y="4303166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6801307" y="4303166"/>
            <a:ext cx="4715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More Batteries Onboarded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801307" y="4570171"/>
            <a:ext cx="5287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Expanding the install base generates richer, more diverse telemetry data.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391656" y="4960620"/>
            <a:ext cx="267005" cy="2670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53251" y="4960620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801307" y="4960620"/>
            <a:ext cx="4734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Smarter Risk Engine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801307" y="5227625"/>
            <a:ext cx="4696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Granular data improves behavioral scoring and default prediction accuracy.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391656" y="5817413"/>
            <a:ext cx="267005" cy="2670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353251" y="5817413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801307" y="5817413"/>
            <a:ext cx="416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Lower NPAs &amp; Higher Trust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801307" y="6084418"/>
            <a:ext cx="4734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outcomes attract more institutional capital to deploy.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71500" y="3736238"/>
            <a:ext cx="5333695" cy="2857500"/>
          </a:xfrm>
          <a:prstGeom prst="roundRect">
            <a:avLst>
              <a:gd name="adj" fmla="val 25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615538" y="3936492"/>
            <a:ext cx="2095805" cy="342900"/>
          </a:xfrm>
          <a:prstGeom prst="roundRect">
            <a:avLst>
              <a:gd name="adj" fmla="val 26666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3777386" y="4031590"/>
            <a:ext cx="190195" cy="15270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044391" y="3936492"/>
            <a:ext cx="15654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 Efficiency Layer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6" b="-6"/>
          <a:stretch/>
        </p:blipFill>
        <p:spPr>
          <a:xfrm>
            <a:off x="724205" y="3888943"/>
            <a:ext cx="5029200" cy="2553005"/>
          </a:xfrm>
          <a:prstGeom prst="rect">
            <a:avLst/>
          </a:prstGeom>
        </p:spPr>
      </p:pic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03" b="-403"/>
          <a:stretch/>
        </p:blipFill>
        <p:spPr>
          <a:xfrm>
            <a:off x="2391156" y="2377440"/>
            <a:ext cx="709574" cy="19202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03" b="-403"/>
          <a:stretch/>
        </p:blipFill>
        <p:spPr>
          <a:xfrm>
            <a:off x="4624121" y="2377440"/>
            <a:ext cx="709574" cy="19202"/>
          </a:xfrm>
          <a:prstGeom prst="rect">
            <a:avLst/>
          </a:prstGeom>
        </p:spPr>
      </p:pic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03" b="-403"/>
          <a:stretch/>
        </p:blipFill>
        <p:spPr>
          <a:xfrm>
            <a:off x="6858000" y="2377440"/>
            <a:ext cx="709574" cy="19202"/>
          </a:xfrm>
          <a:prstGeom prst="rect">
            <a:avLst/>
          </a:prstGeom>
        </p:spPr>
      </p:pic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03" b="-403"/>
          <a:stretch/>
        </p:blipFill>
        <p:spPr>
          <a:xfrm>
            <a:off x="9091879" y="2377440"/>
            <a:ext cx="709574" cy="19202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1343254" y="2190902"/>
            <a:ext cx="571500" cy="5715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rcRect l="-80" r="-80" t="0" b="0"/>
          <a:stretch/>
        </p:blipFill>
        <p:spPr>
          <a:xfrm>
            <a:off x="1485900" y="2361895"/>
            <a:ext cx="286207" cy="2286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074420" y="2876702"/>
            <a:ext cx="11109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Driver &amp; Dealer</a:t>
            </a:r>
            <a:endParaRPr lang="en-US" sz="1000" dirty="0"/>
          </a:p>
        </p:txBody>
      </p:sp>
      <p:sp>
        <p:nvSpPr>
          <p:cNvPr id="38" name="Text 26"/>
          <p:cNvSpPr txBox="1"/>
          <p:nvPr/>
        </p:nvSpPr>
        <p:spPr>
          <a:xfrm>
            <a:off x="1088136" y="3114446"/>
            <a:ext cx="108813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Origination at POS</a:t>
            </a:r>
            <a:endParaRPr lang="en-US" sz="800" dirty="0"/>
          </a:p>
        </p:txBody>
      </p:sp>
      <p:sp>
        <p:nvSpPr>
          <p:cNvPr id="39" name="Shape 27"/>
          <p:cNvSpPr/>
          <p:nvPr/>
        </p:nvSpPr>
        <p:spPr>
          <a:xfrm>
            <a:off x="3576218" y="2190902"/>
            <a:ext cx="571500" cy="571500"/>
          </a:xfrm>
          <a:prstGeom prst="ellipse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5" b="-45"/>
          <a:stretch/>
        </p:blipFill>
        <p:spPr>
          <a:xfrm>
            <a:off x="3733495" y="2361895"/>
            <a:ext cx="256946" cy="22860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3234233" y="2876702"/>
            <a:ext cx="12582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iTarang Platform</a:t>
            </a:r>
            <a:endParaRPr lang="en-US" sz="1000" dirty="0"/>
          </a:p>
        </p:txBody>
      </p:sp>
      <p:sp>
        <p:nvSpPr>
          <p:cNvPr id="42" name="Text 29"/>
          <p:cNvSpPr txBox="1"/>
          <p:nvPr/>
        </p:nvSpPr>
        <p:spPr>
          <a:xfrm>
            <a:off x="3179369" y="3114446"/>
            <a:ext cx="13716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+ Risk Score</a:t>
            </a:r>
            <a:endParaRPr lang="en-US" sz="800" dirty="0"/>
          </a:p>
        </p:txBody>
      </p:sp>
      <p:sp>
        <p:nvSpPr>
          <p:cNvPr id="43" name="Shape 30"/>
          <p:cNvSpPr/>
          <p:nvPr/>
        </p:nvSpPr>
        <p:spPr>
          <a:xfrm>
            <a:off x="5810098" y="2190902"/>
            <a:ext cx="571500" cy="5715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982005" y="2361895"/>
            <a:ext cx="228600" cy="22860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5590642" y="2876702"/>
            <a:ext cx="10204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NBFC Partner</a:t>
            </a:r>
            <a:endParaRPr lang="en-US" sz="1000" dirty="0"/>
          </a:p>
        </p:txBody>
      </p:sp>
      <p:sp>
        <p:nvSpPr>
          <p:cNvPr id="46" name="Text 32"/>
          <p:cNvSpPr txBox="1"/>
          <p:nvPr/>
        </p:nvSpPr>
        <p:spPr>
          <a:xfrm>
            <a:off x="5356555" y="3114446"/>
            <a:ext cx="148498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&amp; Disbursement</a:t>
            </a:r>
            <a:endParaRPr lang="en-US" sz="800" dirty="0"/>
          </a:p>
        </p:txBody>
      </p:sp>
      <p:sp>
        <p:nvSpPr>
          <p:cNvPr id="47" name="Shape 33"/>
          <p:cNvSpPr/>
          <p:nvPr/>
        </p:nvSpPr>
        <p:spPr>
          <a:xfrm>
            <a:off x="8043977" y="2190902"/>
            <a:ext cx="571500" cy="5715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214970" y="2361895"/>
            <a:ext cx="228600" cy="228600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7906817" y="2876702"/>
            <a:ext cx="8503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50" name="Text 35"/>
          <p:cNvSpPr txBox="1"/>
          <p:nvPr/>
        </p:nvSpPr>
        <p:spPr>
          <a:xfrm>
            <a:off x="7745882" y="3114446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&amp; Repayment</a:t>
            </a:r>
            <a:endParaRPr lang="en-US" sz="800" dirty="0"/>
          </a:p>
        </p:txBody>
      </p:sp>
      <p:sp>
        <p:nvSpPr>
          <p:cNvPr id="51" name="Shape 36"/>
          <p:cNvSpPr/>
          <p:nvPr/>
        </p:nvSpPr>
        <p:spPr>
          <a:xfrm>
            <a:off x="10277856" y="2190902"/>
            <a:ext cx="571500" cy="5715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448849" y="2361895"/>
            <a:ext cx="228600" cy="228600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10044684" y="2876702"/>
            <a:ext cx="1043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Lifecycle Ops</a:t>
            </a:r>
            <a:endParaRPr lang="en-US" sz="1000" dirty="0"/>
          </a:p>
        </p:txBody>
      </p:sp>
      <p:sp>
        <p:nvSpPr>
          <p:cNvPr id="54" name="Text 38"/>
          <p:cNvSpPr txBox="1"/>
          <p:nvPr/>
        </p:nvSpPr>
        <p:spPr>
          <a:xfrm>
            <a:off x="9860890" y="3114446"/>
            <a:ext cx="14063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&amp; Second Life</a:t>
            </a:r>
            <a:endParaRPr lang="en-US" sz="800" dirty="0"/>
          </a:p>
        </p:txBody>
      </p:sp>
      <p:sp>
        <p:nvSpPr>
          <p:cNvPr id="55" name="Shape 39"/>
          <p:cNvSpPr/>
          <p:nvPr/>
        </p:nvSpPr>
        <p:spPr>
          <a:xfrm>
            <a:off x="571500" y="6975043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6" name="Text 40"/>
          <p:cNvSpPr txBox="1"/>
          <p:nvPr/>
        </p:nvSpPr>
        <p:spPr>
          <a:xfrm>
            <a:off x="571500" y="7175297"/>
            <a:ext cx="20519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iTarang Ecosystem Architecture</a:t>
            </a:r>
            <a:endParaRPr lang="en-US" sz="900" dirty="0"/>
          </a:p>
        </p:txBody>
      </p:sp>
      <p:sp>
        <p:nvSpPr>
          <p:cNvPr id="57" name="Text 41"/>
          <p:cNvSpPr txBox="1"/>
          <p:nvPr/>
        </p:nvSpPr>
        <p:spPr>
          <a:xfrm>
            <a:off x="11453774" y="7175297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38805" y="571500"/>
            <a:ext cx="5715000" cy="5715000"/>
          </a:xfrm>
          <a:prstGeom prst="ellips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763158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Model: Clear Revenue Focus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3602"/>
            <a:ext cx="6305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for early cash flow and long-term recurring value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1543507"/>
            <a:ext cx="11048695" cy="3952951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" y="1552651"/>
            <a:ext cx="4419295" cy="5148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" y="2058314"/>
            <a:ext cx="44192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" y="1552651"/>
            <a:ext cx="44961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 Stream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92624" y="1552651"/>
            <a:ext cx="1657807" cy="5148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992624" y="2058314"/>
            <a:ext cx="16578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92624" y="1552651"/>
            <a:ext cx="1723644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/ Timing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47688" y="1552651"/>
            <a:ext cx="2762402" cy="5148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647688" y="2058314"/>
            <a:ext cx="2762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47688" y="1552651"/>
            <a:ext cx="2839212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404604" y="1552651"/>
            <a:ext cx="2210105" cy="5148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9404604" y="2058314"/>
            <a:ext cx="22101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404604" y="1552651"/>
            <a:ext cx="2286000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Nature of Revenue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0644" y="2910535"/>
            <a:ext cx="44192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9244" y="2259482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6521" y="2392985"/>
            <a:ext cx="142646" cy="19019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419149" y="2257654"/>
            <a:ext cx="29132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Underwriting Enablement Fee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419149" y="2533802"/>
            <a:ext cx="25502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Charged to NBFC per loan approved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992624" y="2910535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992624" y="2061972"/>
            <a:ext cx="1723644" cy="6583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(Day 1)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47688" y="2910535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876288" y="2278685"/>
            <a:ext cx="2397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₹1,500 – ₹2,500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876288" y="2526487"/>
            <a:ext cx="23975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approved loan (Upfront)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9404604" y="2910535"/>
            <a:ext cx="22101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633204" y="2395728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Flow Engine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80644" y="3763670"/>
            <a:ext cx="44192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09244" y="3112618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2746" y="3245206"/>
            <a:ext cx="190195" cy="190195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419149" y="3109874"/>
            <a:ext cx="28337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Telemetry SaaS Subscription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1419149" y="3386023"/>
            <a:ext cx="2695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fee for data &amp; monitoring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992624" y="3763670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992624" y="2915107"/>
            <a:ext cx="1723644" cy="6583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(Day 1)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647688" y="3763670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876288" y="3130906"/>
            <a:ext cx="2397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₹200 – ₹300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6876288" y="3378708"/>
            <a:ext cx="23975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battery / month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9404604" y="3763670"/>
            <a:ext cx="22101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9633204" y="3247949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Margin ARR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580644" y="4615891"/>
            <a:ext cx="44192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09244" y="3964838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929030" y="4098341"/>
            <a:ext cx="219456" cy="190195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1419149" y="3962095"/>
            <a:ext cx="284561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Collection Infrastructure Fee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1419149" y="4238244"/>
            <a:ext cx="24871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Platform-facilitated repayment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4992624" y="4615891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4992624" y="3767328"/>
            <a:ext cx="1723644" cy="6583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2+</a:t>
            </a:r>
            <a:endParaRPr lang="en-US" sz="1200" dirty="0"/>
          </a:p>
        </p:txBody>
      </p:sp>
      <p:sp>
        <p:nvSpPr>
          <p:cNvPr id="52" name="Shape 46"/>
          <p:cNvSpPr/>
          <p:nvPr/>
        </p:nvSpPr>
        <p:spPr>
          <a:xfrm>
            <a:off x="6647688" y="4615891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6876288" y="3984041"/>
            <a:ext cx="2397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~1% – 2%</a:t>
            </a:r>
            <a:endParaRPr lang="en-US" sz="1200" dirty="0"/>
          </a:p>
        </p:txBody>
      </p:sp>
      <p:sp>
        <p:nvSpPr>
          <p:cNvPr id="54" name="Text 48"/>
          <p:cNvSpPr txBox="1"/>
          <p:nvPr/>
        </p:nvSpPr>
        <p:spPr>
          <a:xfrm>
            <a:off x="6876288" y="4231843"/>
            <a:ext cx="23975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AUM collected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9404604" y="4615891"/>
            <a:ext cx="22101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633204" y="4100170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Upside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809244" y="4824374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2746" y="4957877"/>
            <a:ext cx="190195" cy="190195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1419149" y="4821631"/>
            <a:ext cx="26188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Lifecycle Recovery Margin</a:t>
            </a:r>
            <a:endParaRPr lang="en-US" sz="1300" dirty="0"/>
          </a:p>
        </p:txBody>
      </p:sp>
      <p:sp>
        <p:nvSpPr>
          <p:cNvPr id="60" name="Text 53"/>
          <p:cNvSpPr txBox="1"/>
          <p:nvPr/>
        </p:nvSpPr>
        <p:spPr>
          <a:xfrm>
            <a:off x="1419149" y="5098694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End-of-life value capture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4992624" y="4619549"/>
            <a:ext cx="1723644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2+ (Year 3)</a:t>
            </a:r>
            <a:endParaRPr lang="en-US" sz="1200" dirty="0"/>
          </a:p>
        </p:txBody>
      </p:sp>
      <p:sp>
        <p:nvSpPr>
          <p:cNvPr id="62" name="Text 55"/>
          <p:cNvSpPr txBox="1"/>
          <p:nvPr/>
        </p:nvSpPr>
        <p:spPr>
          <a:xfrm>
            <a:off x="6876288" y="4843577"/>
            <a:ext cx="2397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₹3,000 – ₹8,000</a:t>
            </a:r>
            <a:endParaRPr lang="en-US" sz="1200" dirty="0"/>
          </a:p>
        </p:txBody>
      </p:sp>
      <p:sp>
        <p:nvSpPr>
          <p:cNvPr id="63" name="Text 56"/>
          <p:cNvSpPr txBox="1"/>
          <p:nvPr/>
        </p:nvSpPr>
        <p:spPr>
          <a:xfrm>
            <a:off x="6876288" y="5091379"/>
            <a:ext cx="23975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asset (Resale/Recycle)</a:t>
            </a:r>
            <a:endParaRPr lang="en-US" sz="900" dirty="0"/>
          </a:p>
        </p:txBody>
      </p:sp>
      <p:sp>
        <p:nvSpPr>
          <p:cNvPr id="64" name="Text 57"/>
          <p:cNvSpPr txBox="1"/>
          <p:nvPr/>
        </p:nvSpPr>
        <p:spPr>
          <a:xfrm>
            <a:off x="9633204" y="4959706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Moat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571500" y="5682082"/>
            <a:ext cx="11048695" cy="1104595"/>
          </a:xfrm>
          <a:prstGeom prst="roundRect">
            <a:avLst>
              <a:gd name="adj" fmla="val 171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1076249" y="5881421"/>
            <a:ext cx="8411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Strategic Sequencing Rationale </a:t>
            </a:r>
            <a:endParaRPr lang="en-US" sz="1200" dirty="0"/>
          </a:p>
        </p:txBody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" b="-100"/>
          <a:stretch/>
        </p:blipFill>
        <p:spPr>
          <a:xfrm>
            <a:off x="866851" y="5919826"/>
            <a:ext cx="114300" cy="152705"/>
          </a:xfrm>
          <a:prstGeom prst="rect">
            <a:avLst/>
          </a:prstGeom>
        </p:spPr>
      </p:pic>
      <p:sp>
        <p:nvSpPr>
          <p:cNvPr id="68" name="Text 60"/>
          <p:cNvSpPr txBox="1"/>
          <p:nvPr/>
        </p:nvSpPr>
        <p:spPr>
          <a:xfrm>
            <a:off x="866851" y="6186830"/>
            <a:ext cx="85825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prioritize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Underwriting Fees + SaaS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generate immediate cash flow and high-margin recurring revenue. Lifecycle revenue builds a long-term "regulatory moat" as EPR compliance tightens, creating back-ended upside without front-loaded CAPEX. </a:t>
            </a:r>
            <a:endParaRPr lang="en-US" sz="1000" dirty="0"/>
          </a:p>
        </p:txBody>
      </p:sp>
      <p:sp>
        <p:nvSpPr>
          <p:cNvPr id="69" name="Shape 61"/>
          <p:cNvSpPr/>
          <p:nvPr/>
        </p:nvSpPr>
        <p:spPr>
          <a:xfrm>
            <a:off x="9651492" y="6057900"/>
            <a:ext cx="1676095" cy="352044"/>
          </a:xfrm>
          <a:prstGeom prst="roundRect">
            <a:avLst>
              <a:gd name="adj" fmla="val 8424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9651492" y="6057900"/>
            <a:ext cx="1743761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 #1 ADDRESSED</a:t>
            </a:r>
            <a:endParaRPr lang="en-US" sz="1000" dirty="0"/>
          </a:p>
        </p:txBody>
      </p:sp>
      <p:sp>
        <p:nvSpPr>
          <p:cNvPr id="71" name="Shape 63"/>
          <p:cNvSpPr/>
          <p:nvPr/>
        </p:nvSpPr>
        <p:spPr>
          <a:xfrm>
            <a:off x="571500" y="7167982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2" name="Text 64"/>
          <p:cNvSpPr txBox="1"/>
          <p:nvPr/>
        </p:nvSpPr>
        <p:spPr>
          <a:xfrm>
            <a:off x="571500" y="7367321"/>
            <a:ext cx="19504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Asset-Light Fee &amp; SaaS Model</a:t>
            </a:r>
            <a:endParaRPr lang="en-US" sz="900" dirty="0"/>
          </a:p>
        </p:txBody>
      </p:sp>
      <p:sp>
        <p:nvSpPr>
          <p:cNvPr id="73" name="Text 65"/>
          <p:cNvSpPr txBox="1"/>
          <p:nvPr/>
        </p:nvSpPr>
        <p:spPr>
          <a:xfrm>
            <a:off x="11462004" y="736732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4" r="-4" t="0" b="0"/>
          <a:stretch/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381305"/>
            <a:ext cx="593079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 Economics: Per Battery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933602"/>
            <a:ext cx="5524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Profitable unit metrics from Day 1 with compounding lifecycle value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72500" y="1543507"/>
            <a:ext cx="3047695" cy="1352398"/>
          </a:xfrm>
          <a:prstGeom prst="roundRect">
            <a:avLst>
              <a:gd name="adj" fmla="val 11428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06002" y="2033626"/>
            <a:ext cx="27816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~65-70%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8748979" y="2487168"/>
            <a:ext cx="269473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Excluding Lifecycle Upside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572500" y="3077870"/>
            <a:ext cx="3047695" cy="2714854"/>
          </a:xfrm>
          <a:prstGeom prst="roundRect">
            <a:avLst>
              <a:gd name="adj" fmla="val 28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001354" y="3277210"/>
            <a:ext cx="25255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Market Context 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72754" y="3315614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72754" y="3620110"/>
            <a:ext cx="2724912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e-rickshaw battery loan is ~₹49,000 @ 17.5% p.a. for 18 months. Without iTarang's intelligence, lenders face thin margins due to high NPAs. Our platform improves risk-adjusted returns by 30-40%.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71500" y="1543507"/>
            <a:ext cx="3715207" cy="4248302"/>
          </a:xfrm>
          <a:prstGeom prst="roundRect">
            <a:avLst>
              <a:gd name="adj" fmla="val 151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788" b="-788"/>
          <a:stretch/>
        </p:blipFill>
        <p:spPr>
          <a:xfrm>
            <a:off x="2629814" y="1742846"/>
            <a:ext cx="1457554" cy="29535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916022" y="1742846"/>
            <a:ext cx="122986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#2 Addressed 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54173" y="1836115"/>
            <a:ext cx="105156" cy="10515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09244" y="2391156"/>
            <a:ext cx="3238805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9244" y="1781251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42746" y="1914754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419149" y="1867205"/>
            <a:ext cx="290230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Lifetime Revenue (3 Years)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809244" y="2683764"/>
            <a:ext cx="192755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Underwriting Fee (Year 1)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3161081" y="2590495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₹2,000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3081528" y="2819095"/>
            <a:ext cx="9756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Upfront per loan</a:t>
            </a:r>
            <a:endParaRPr lang="en-US" sz="800" dirty="0"/>
          </a:p>
        </p:txBody>
      </p:sp>
      <p:sp>
        <p:nvSpPr>
          <p:cNvPr id="26" name="Text 18"/>
          <p:cNvSpPr txBox="1"/>
          <p:nvPr/>
        </p:nvSpPr>
        <p:spPr>
          <a:xfrm>
            <a:off x="809244" y="3221431"/>
            <a:ext cx="18480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SaaS (18 Mo.)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2897734" y="3129077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₹4,500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2812694" y="3357677"/>
            <a:ext cx="12380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₹250/mo × 18 months</a:t>
            </a: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809244" y="3760013"/>
            <a:ext cx="1610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 Fee (1.5%)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2983687" y="3666744"/>
            <a:ext cx="106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~₹1,100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2878531" y="3895344"/>
            <a:ext cx="11713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AUM collected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809244" y="4298594"/>
            <a:ext cx="1904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Margin (Year 3)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2631643" y="420532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₹4,000 - ₹8,000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2781605" y="4433926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Resale / Recycling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809244" y="4981651"/>
            <a:ext cx="3238805" cy="19202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09244" y="5352898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LTV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620317" y="5152644"/>
            <a:ext cx="289041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~₹11,600 - ₹15,600</a:t>
            </a:r>
            <a:endParaRPr lang="en-US" sz="2100" dirty="0"/>
          </a:p>
        </p:txBody>
      </p:sp>
      <p:sp>
        <p:nvSpPr>
          <p:cNvPr id="38" name="Shape 30"/>
          <p:cNvSpPr/>
          <p:nvPr/>
        </p:nvSpPr>
        <p:spPr>
          <a:xfrm>
            <a:off x="4572000" y="1543507"/>
            <a:ext cx="3715207" cy="4248302"/>
          </a:xfrm>
          <a:prstGeom prst="roundRect">
            <a:avLst>
              <a:gd name="adj" fmla="val 1515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809744" y="2391156"/>
            <a:ext cx="3238805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809744" y="1781251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943246" y="1914754"/>
            <a:ext cx="190195" cy="19019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419649" y="1867205"/>
            <a:ext cx="24487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Direct Costs (Per Unit)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4809744" y="2683764"/>
            <a:ext cx="9948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Hardware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7221017" y="2590495"/>
            <a:ext cx="829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₹1,000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7154266" y="2819095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Amortized cost</a:t>
            </a:r>
            <a:endParaRPr lang="en-US" sz="800" dirty="0"/>
          </a:p>
        </p:txBody>
      </p:sp>
      <p:sp>
        <p:nvSpPr>
          <p:cNvPr id="46" name="Text 37"/>
          <p:cNvSpPr txBox="1"/>
          <p:nvPr/>
        </p:nvSpPr>
        <p:spPr>
          <a:xfrm>
            <a:off x="4809744" y="3221431"/>
            <a:ext cx="1371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 Origination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7131406" y="3129077"/>
            <a:ext cx="924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₹650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7047281" y="3357677"/>
            <a:ext cx="10094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incentive</a:t>
            </a:r>
            <a:endParaRPr lang="en-US" sz="800" dirty="0"/>
          </a:p>
        </p:txBody>
      </p:sp>
      <p:sp>
        <p:nvSpPr>
          <p:cNvPr id="49" name="Text 40"/>
          <p:cNvSpPr txBox="1"/>
          <p:nvPr/>
        </p:nvSpPr>
        <p:spPr>
          <a:xfrm>
            <a:off x="4809744" y="3760013"/>
            <a:ext cx="15983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Ops (Cloud)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6867144" y="366674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₹300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6755587" y="3895344"/>
            <a:ext cx="13021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storage/compute</a:t>
            </a:r>
            <a:endParaRPr lang="en-US" sz="800" dirty="0"/>
          </a:p>
        </p:txBody>
      </p:sp>
      <p:sp>
        <p:nvSpPr>
          <p:cNvPr id="52" name="Text 43"/>
          <p:cNvSpPr txBox="1"/>
          <p:nvPr/>
        </p:nvSpPr>
        <p:spPr>
          <a:xfrm>
            <a:off x="4809744" y="4298594"/>
            <a:ext cx="17401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&amp; Maintenance</a:t>
            </a:r>
            <a:endParaRPr lang="en-US" sz="1000" dirty="0"/>
          </a:p>
        </p:txBody>
      </p:sp>
      <p:sp>
        <p:nvSpPr>
          <p:cNvPr id="53" name="Text 44"/>
          <p:cNvSpPr txBox="1"/>
          <p:nvPr/>
        </p:nvSpPr>
        <p:spPr>
          <a:xfrm>
            <a:off x="7092086" y="4205326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₹500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6999732" y="4433926"/>
            <a:ext cx="10543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allocation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4809744" y="4981651"/>
            <a:ext cx="3238805" cy="19202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4809744" y="5352898"/>
            <a:ext cx="14575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CAC + COGS</a:t>
            </a:r>
            <a:endParaRPr lang="en-US" sz="1000" dirty="0"/>
          </a:p>
        </p:txBody>
      </p:sp>
      <p:sp>
        <p:nvSpPr>
          <p:cNvPr id="57" name="Text 48"/>
          <p:cNvSpPr txBox="1"/>
          <p:nvPr/>
        </p:nvSpPr>
        <p:spPr>
          <a:xfrm>
            <a:off x="6977786" y="5152644"/>
            <a:ext cx="12006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A58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~₹2,450</a:t>
            </a:r>
            <a:endParaRPr lang="en-US" sz="2100" dirty="0"/>
          </a:p>
        </p:txBody>
      </p:sp>
      <p:sp>
        <p:nvSpPr>
          <p:cNvPr id="58" name="Text 49"/>
          <p:cNvSpPr txBox="1"/>
          <p:nvPr/>
        </p:nvSpPr>
        <p:spPr>
          <a:xfrm>
            <a:off x="8748979" y="1772107"/>
            <a:ext cx="26947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75" kern="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59" name="Shape 50"/>
          <p:cNvSpPr/>
          <p:nvPr/>
        </p:nvSpPr>
        <p:spPr>
          <a:xfrm>
            <a:off x="571500" y="6172200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571500" y="6372454"/>
            <a:ext cx="336682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Estimates based on current pilot data &amp; market rates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11451946" y="6372454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7" r="-7" t="0" b="0"/>
          <a:stretch/>
        </p:blipFill>
        <p:spPr>
          <a:xfrm>
            <a:off x="0" y="4953305"/>
            <a:ext cx="12191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381305"/>
            <a:ext cx="6020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Competitive Landscape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933602"/>
            <a:ext cx="651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positioning at the intersection of asset intelligence &amp; lifecycle compliance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1543507"/>
            <a:ext cx="7181698" cy="5352898"/>
          </a:xfrm>
          <a:prstGeom prst="roundRect">
            <a:avLst>
              <a:gd name="adj" fmla="val 7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599846" y="1552651"/>
            <a:ext cx="1862633" cy="50566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228600" tIns="152400" rIns="152400" bIns="15240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Player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2357323" y="1552651"/>
            <a:ext cx="1257300" cy="50566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Asset Focus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554273" y="1552651"/>
            <a:ext cx="1410005" cy="50566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IoT &amp; Risk Tech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901184" y="1552651"/>
            <a:ext cx="1429207" cy="50566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Lifecycle / EPR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99302" y="1552651"/>
            <a:ext cx="1447495" cy="50474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0"/>
          <p:cNvSpPr/>
          <p:nvPr/>
        </p:nvSpPr>
        <p:spPr>
          <a:xfrm>
            <a:off x="6299302" y="2048256"/>
            <a:ext cx="14474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70955" y="1552651"/>
            <a:ext cx="1506017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9846" y="2052828"/>
            <a:ext cx="7144207" cy="780898"/>
          </a:xfrm>
          <a:prstGeom prst="rect">
            <a:avLst/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9846" y="2052828"/>
            <a:ext cx="1862633" cy="781812"/>
          </a:xfrm>
          <a:prstGeom prst="rect">
            <a:avLst/>
          </a:prstGeom>
          <a:noFill/>
          <a:ln w="25400">
            <a:solidFill>
              <a:srgbClr val="0D9488"/>
            </a:solidFill>
          </a:ln>
        </p:spPr>
        <p:txBody>
          <a:bodyPr wrap="square" lIns="228600" tIns="152400" rIns="152400" bIns="152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iTarang</a:t>
            </a:r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Platform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675534" y="2052828"/>
            <a:ext cx="967435" cy="781812"/>
          </a:xfrm>
          <a:prstGeom prst="rect">
            <a:avLst/>
          </a:prstGeom>
          <a:noFill/>
          <a:ln w="25400">
            <a:solidFill>
              <a:srgbClr val="0D9488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Battery-First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836822" y="2052828"/>
            <a:ext cx="1155802" cy="781812"/>
          </a:xfrm>
          <a:prstGeom prst="rect">
            <a:avLst/>
          </a:prstGeom>
          <a:noFill/>
          <a:ln w="25400">
            <a:solidFill>
              <a:srgbClr val="0D9488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Score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276088" y="2052828"/>
            <a:ext cx="1082650" cy="781812"/>
          </a:xfrm>
          <a:prstGeom prst="rect">
            <a:avLst/>
          </a:prstGeom>
          <a:noFill/>
          <a:ln w="25400">
            <a:solidFill>
              <a:srgbClr val="0D9488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EPR Suite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70955" y="2052828"/>
            <a:ext cx="1506017" cy="781812"/>
          </a:xfrm>
          <a:prstGeom prst="rect">
            <a:avLst/>
          </a:prstGeom>
          <a:noFill/>
          <a:ln w="25400">
            <a:solidFill>
              <a:srgbClr val="0D9488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Fee-Based Tech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99846" y="2833726"/>
            <a:ext cx="7144207" cy="78089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99846" y="2833726"/>
            <a:ext cx="1862633" cy="781812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228600" tIns="152400" rIns="152400" bIns="152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Chargeup</a:t>
            </a:r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Platform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2703881" y="2833726"/>
            <a:ext cx="939089" cy="781812"/>
          </a:xfrm>
          <a:prstGeom prst="rect">
            <a:avLst/>
          </a:prstGeom>
          <a:noFill/>
          <a:ln w="12700">
            <a:solidFill>
              <a:srgbClr val="F1F5F9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Driver-First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3969410" y="2833726"/>
            <a:ext cx="1023214" cy="781812"/>
          </a:xfrm>
          <a:prstGeom prst="rect">
            <a:avLst/>
          </a:prstGeom>
          <a:noFill/>
          <a:ln w="12700">
            <a:solidFill>
              <a:srgbClr val="F1F5F9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393131" y="2833726"/>
            <a:ext cx="965606" cy="781812"/>
          </a:xfrm>
          <a:prstGeom prst="rect">
            <a:avLst/>
          </a:prstGeom>
          <a:noFill/>
          <a:ln w="12700">
            <a:solidFill>
              <a:srgbClr val="F1F5F9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Core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299302" y="3605479"/>
            <a:ext cx="1447495" cy="9144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270955" y="2833726"/>
            <a:ext cx="1506017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B2C Financing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599846" y="3610051"/>
            <a:ext cx="1862633" cy="771754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228600" tIns="152400" rIns="152400" bIns="152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Revfin</a:t>
            </a:r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 Lender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670962" y="3610051"/>
            <a:ext cx="972007" cy="771754"/>
          </a:xfrm>
          <a:prstGeom prst="rect">
            <a:avLst/>
          </a:prstGeom>
          <a:noFill/>
          <a:ln w="12700">
            <a:solidFill>
              <a:srgbClr val="F1F5F9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Vehicle-First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3918204" y="3610051"/>
            <a:ext cx="1074420" cy="771754"/>
          </a:xfrm>
          <a:prstGeom prst="rect">
            <a:avLst/>
          </a:prstGeom>
          <a:noFill/>
          <a:ln w="12700">
            <a:solidFill>
              <a:srgbClr val="F1F5F9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Psychometric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929530" y="4372661"/>
            <a:ext cx="13716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291986" y="3610051"/>
            <a:ext cx="9144" cy="77175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299302" y="4372661"/>
            <a:ext cx="14474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270955" y="3610051"/>
            <a:ext cx="1506017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Lending Book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599846" y="4381805"/>
            <a:ext cx="1862633" cy="771754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228600" tIns="152400" rIns="152400" bIns="152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Battery Smart</a:t>
            </a:r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Swapping Infra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2643530" y="4381805"/>
            <a:ext cx="999439" cy="771754"/>
          </a:xfrm>
          <a:prstGeom prst="rect">
            <a:avLst/>
          </a:prstGeom>
          <a:noFill/>
          <a:ln w="12700">
            <a:solidFill>
              <a:srgbClr val="F1F5F9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Network-First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3888029" y="4381805"/>
            <a:ext cx="1104595" cy="771754"/>
          </a:xfrm>
          <a:prstGeom prst="rect">
            <a:avLst/>
          </a:prstGeom>
          <a:noFill/>
          <a:ln w="12700">
            <a:solidFill>
              <a:srgbClr val="F1F5F9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Tracking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4929530" y="5143500"/>
            <a:ext cx="13716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291986" y="4381805"/>
            <a:ext cx="9144" cy="77175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299302" y="5144414"/>
            <a:ext cx="14474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70955" y="4381805"/>
            <a:ext cx="1506017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Swapping Fees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599846" y="5152644"/>
            <a:ext cx="1862633" cy="771754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228600" tIns="152400" rIns="152400" bIns="152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Attero / Lohum</a:t>
            </a:r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Recyclers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2652674" y="5152644"/>
            <a:ext cx="990295" cy="771754"/>
          </a:xfrm>
          <a:prstGeom prst="rect">
            <a:avLst/>
          </a:prstGeom>
          <a:noFill/>
          <a:ln w="12700">
            <a:solidFill>
              <a:srgbClr val="F1F5F9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Material-First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3582619" y="5915254"/>
            <a:ext cx="13523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925873" y="5152644"/>
            <a:ext cx="9144" cy="77175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339182" y="5152644"/>
            <a:ext cx="1019556" cy="771754"/>
          </a:xfrm>
          <a:prstGeom prst="rect">
            <a:avLst/>
          </a:prstGeom>
          <a:noFill/>
          <a:ln w="12700">
            <a:solidFill>
              <a:srgbClr val="F1F5F9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6299302" y="5915254"/>
            <a:ext cx="14474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270955" y="5152644"/>
            <a:ext cx="1506017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Recovery</a:t>
            </a:r>
            <a:endParaRPr lang="en-US" sz="1200" dirty="0"/>
          </a:p>
        </p:txBody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07792" y="2253082"/>
            <a:ext cx="152705" cy="152705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79722" y="2253082"/>
            <a:ext cx="152705" cy="152705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38521" y="2253082"/>
            <a:ext cx="152705" cy="152705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2917850" y="3033979"/>
            <a:ext cx="133502" cy="152705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4189781" y="3033979"/>
            <a:ext cx="133502" cy="152705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5557723" y="3033979"/>
            <a:ext cx="114300" cy="152705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rcRect l="-1507" r="-1507" t="0" b="0"/>
          <a:stretch/>
        </p:blipFill>
        <p:spPr>
          <a:xfrm>
            <a:off x="2898648" y="3822192"/>
            <a:ext cx="171907" cy="133502"/>
          </a:xfrm>
          <a:prstGeom prst="rect">
            <a:avLst/>
          </a:prstGeom>
        </p:spPr>
      </p:pic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4189781" y="3804818"/>
            <a:ext cx="133502" cy="152705"/>
          </a:xfrm>
          <a:prstGeom prst="rect">
            <a:avLst/>
          </a:prstGeom>
        </p:spPr>
      </p:pic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00" b="-100"/>
          <a:stretch/>
        </p:blipFill>
        <p:spPr>
          <a:xfrm>
            <a:off x="5557723" y="3919118"/>
            <a:ext cx="114300" cy="152705"/>
          </a:xfrm>
          <a:prstGeom prst="rect">
            <a:avLst/>
          </a:prstGeom>
        </p:spPr>
      </p:pic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917850" y="4593031"/>
            <a:ext cx="133502" cy="133502"/>
          </a:xfrm>
          <a:prstGeom prst="rect">
            <a:avLst/>
          </a:prstGeom>
        </p:spPr>
      </p:pic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3" b="-43"/>
          <a:stretch/>
        </p:blipFill>
        <p:spPr>
          <a:xfrm>
            <a:off x="4189781" y="4576572"/>
            <a:ext cx="133502" cy="152705"/>
          </a:xfrm>
          <a:prstGeom prst="rect">
            <a:avLst/>
          </a:prstGeom>
        </p:spPr>
      </p:pic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0" b="-100"/>
          <a:stretch/>
        </p:blipFill>
        <p:spPr>
          <a:xfrm>
            <a:off x="5557723" y="4690872"/>
            <a:ext cx="114300" cy="152705"/>
          </a:xfrm>
          <a:prstGeom prst="rect">
            <a:avLst/>
          </a:prstGeom>
        </p:spPr>
      </p:pic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2917850" y="5364785"/>
            <a:ext cx="133502" cy="133502"/>
          </a:xfrm>
          <a:prstGeom prst="rect">
            <a:avLst/>
          </a:prstGeom>
        </p:spPr>
      </p:pic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00" b="-100"/>
          <a:stretch/>
        </p:blipFill>
        <p:spPr>
          <a:xfrm>
            <a:off x="4198925" y="5462626"/>
            <a:ext cx="114300" cy="152705"/>
          </a:xfrm>
          <a:prstGeom prst="rect">
            <a:avLst/>
          </a:prstGeom>
        </p:spPr>
      </p:pic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43" b="-43"/>
          <a:stretch/>
        </p:blipFill>
        <p:spPr>
          <a:xfrm>
            <a:off x="5547665" y="5348326"/>
            <a:ext cx="133502" cy="152705"/>
          </a:xfrm>
          <a:prstGeom prst="rect">
            <a:avLst/>
          </a:prstGeom>
        </p:spPr>
      </p:pic>
      <p:sp>
        <p:nvSpPr>
          <p:cNvPr id="65" name="Shape 46"/>
          <p:cNvSpPr/>
          <p:nvPr/>
        </p:nvSpPr>
        <p:spPr>
          <a:xfrm>
            <a:off x="8039405" y="1543507"/>
            <a:ext cx="3581705" cy="2838298"/>
          </a:xfrm>
          <a:prstGeom prst="roundRect">
            <a:avLst>
              <a:gd name="adj" fmla="val 25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66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747" b="-747"/>
          <a:stretch/>
        </p:blipFill>
        <p:spPr>
          <a:xfrm>
            <a:off x="9965131" y="1742846"/>
            <a:ext cx="1457554" cy="295351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10251338" y="1742846"/>
            <a:ext cx="122986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#5 Addressed </a:t>
            </a:r>
            <a:endParaRPr lang="en-US" sz="800" dirty="0"/>
          </a:p>
        </p:txBody>
      </p:sp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0089490" y="1836115"/>
            <a:ext cx="105156" cy="105156"/>
          </a:xfrm>
          <a:prstGeom prst="rect">
            <a:avLst/>
          </a:prstGeom>
        </p:spPr>
      </p:pic>
      <p:sp>
        <p:nvSpPr>
          <p:cNvPr id="69" name="Shape 48"/>
          <p:cNvSpPr/>
          <p:nvPr/>
        </p:nvSpPr>
        <p:spPr>
          <a:xfrm>
            <a:off x="8277149" y="178125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0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842" b="-842"/>
          <a:stretch/>
        </p:blipFill>
        <p:spPr>
          <a:xfrm>
            <a:off x="8372246" y="1886407"/>
            <a:ext cx="190195" cy="171907"/>
          </a:xfrm>
          <a:prstGeom prst="rect">
            <a:avLst/>
          </a:prstGeom>
        </p:spPr>
      </p:pic>
      <p:sp>
        <p:nvSpPr>
          <p:cNvPr id="71" name="Text 49"/>
          <p:cNvSpPr txBox="1"/>
          <p:nvPr/>
        </p:nvSpPr>
        <p:spPr>
          <a:xfrm>
            <a:off x="8772754" y="1843430"/>
            <a:ext cx="210860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iTarang's Whitespace</a:t>
            </a:r>
            <a:endParaRPr lang="en-US" sz="1300" dirty="0"/>
          </a:p>
        </p:txBody>
      </p:sp>
      <p:pic>
        <p:nvPicPr>
          <p:cNvPr id="72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8277149" y="2361895"/>
            <a:ext cx="75895" cy="75895"/>
          </a:xfrm>
          <a:prstGeom prst="rect">
            <a:avLst/>
          </a:prstGeom>
        </p:spPr>
      </p:pic>
      <p:sp>
        <p:nvSpPr>
          <p:cNvPr id="73" name="Text 50"/>
          <p:cNvSpPr txBox="1"/>
          <p:nvPr/>
        </p:nvSpPr>
        <p:spPr>
          <a:xfrm>
            <a:off x="8449056" y="2314346"/>
            <a:ext cx="30102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Integration: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player connecting origination with EPR compliance &amp; second-life routing.</a:t>
            </a:r>
            <a:endParaRPr lang="en-US" sz="1000" dirty="0"/>
          </a:p>
        </p:txBody>
      </p:sp>
      <p:pic>
        <p:nvPicPr>
          <p:cNvPr id="74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8277149" y="3076956"/>
            <a:ext cx="75895" cy="75895"/>
          </a:xfrm>
          <a:prstGeom prst="rect">
            <a:avLst/>
          </a:prstGeom>
        </p:spPr>
      </p:pic>
      <p:sp>
        <p:nvSpPr>
          <p:cNvPr id="75" name="Text 51"/>
          <p:cNvSpPr txBox="1"/>
          <p:nvPr/>
        </p:nvSpPr>
        <p:spPr>
          <a:xfrm>
            <a:off x="8449056" y="3029407"/>
            <a:ext cx="3010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Fee-Based Model: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Tech enabler for NBFCs, not a balance-sheet heavy lender like Revfin.</a:t>
            </a:r>
            <a:endParaRPr lang="en-US" sz="1000" dirty="0"/>
          </a:p>
        </p:txBody>
      </p:sp>
      <p:pic>
        <p:nvPicPr>
          <p:cNvPr id="76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8277149" y="3590849"/>
            <a:ext cx="75895" cy="75895"/>
          </a:xfrm>
          <a:prstGeom prst="rect">
            <a:avLst/>
          </a:prstGeom>
        </p:spPr>
      </p:pic>
      <p:sp>
        <p:nvSpPr>
          <p:cNvPr id="77" name="Text 52"/>
          <p:cNvSpPr txBox="1"/>
          <p:nvPr/>
        </p:nvSpPr>
        <p:spPr>
          <a:xfrm>
            <a:off x="8449056" y="3543300"/>
            <a:ext cx="30102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Asset-Centricity: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Focus on the battery as a programmable financial asset vs. driver profiling.</a:t>
            </a:r>
            <a:endParaRPr lang="en-US" sz="1000" dirty="0"/>
          </a:p>
        </p:txBody>
      </p:sp>
      <p:sp>
        <p:nvSpPr>
          <p:cNvPr id="78" name="Shape 53"/>
          <p:cNvSpPr/>
          <p:nvPr/>
        </p:nvSpPr>
        <p:spPr>
          <a:xfrm>
            <a:off x="8039405" y="4572000"/>
            <a:ext cx="3581705" cy="2324405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9" name="Shape 54"/>
          <p:cNvSpPr/>
          <p:nvPr/>
        </p:nvSpPr>
        <p:spPr>
          <a:xfrm>
            <a:off x="8277149" y="48097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0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8382305" y="4914900"/>
            <a:ext cx="171907" cy="171907"/>
          </a:xfrm>
          <a:prstGeom prst="rect">
            <a:avLst/>
          </a:prstGeom>
        </p:spPr>
      </p:pic>
      <p:sp>
        <p:nvSpPr>
          <p:cNvPr id="81" name="Text 55"/>
          <p:cNvSpPr txBox="1"/>
          <p:nvPr/>
        </p:nvSpPr>
        <p:spPr>
          <a:xfrm>
            <a:off x="8772754" y="4871923"/>
            <a:ext cx="173461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Validation</a:t>
            </a:r>
            <a:endParaRPr lang="en-US" sz="1300" dirty="0"/>
          </a:p>
        </p:txBody>
      </p:sp>
      <p:pic>
        <p:nvPicPr>
          <p:cNvPr id="82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8277149" y="5391302"/>
            <a:ext cx="75895" cy="75895"/>
          </a:xfrm>
          <a:prstGeom prst="rect">
            <a:avLst/>
          </a:prstGeom>
        </p:spPr>
      </p:pic>
      <p:sp>
        <p:nvSpPr>
          <p:cNvPr id="83" name="Text 56"/>
          <p:cNvSpPr txBox="1"/>
          <p:nvPr/>
        </p:nvSpPr>
        <p:spPr>
          <a:xfrm>
            <a:off x="8449056" y="5343754"/>
            <a:ext cx="30102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Chargeup's Success: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₹20 Cr ARR &amp; 7k+ drivers proves the segment pays for tech-enabled financing.</a:t>
            </a:r>
            <a:endParaRPr lang="en-US" sz="1000" dirty="0"/>
          </a:p>
        </p:txBody>
      </p:sp>
      <p:pic>
        <p:nvPicPr>
          <p:cNvPr id="84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8277149" y="6105449"/>
            <a:ext cx="75895" cy="75895"/>
          </a:xfrm>
          <a:prstGeom prst="rect">
            <a:avLst/>
          </a:prstGeom>
        </p:spPr>
      </p:pic>
      <p:sp>
        <p:nvSpPr>
          <p:cNvPr id="85" name="Text 57"/>
          <p:cNvSpPr txBox="1"/>
          <p:nvPr/>
        </p:nvSpPr>
        <p:spPr>
          <a:xfrm>
            <a:off x="8449056" y="6057900"/>
            <a:ext cx="30102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 Advantage: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iTarang's asset-light model targets ~65% gross margins vs. OpEx-heavy B2C models.</a:t>
            </a:r>
            <a:endParaRPr lang="en-US" sz="1000" dirty="0"/>
          </a:p>
        </p:txBody>
      </p:sp>
      <p:sp>
        <p:nvSpPr>
          <p:cNvPr id="86" name="Shape 58"/>
          <p:cNvSpPr/>
          <p:nvPr/>
        </p:nvSpPr>
        <p:spPr>
          <a:xfrm>
            <a:off x="571500" y="7276795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87" name="Text 59"/>
          <p:cNvSpPr txBox="1"/>
          <p:nvPr/>
        </p:nvSpPr>
        <p:spPr>
          <a:xfrm>
            <a:off x="571500" y="7477049"/>
            <a:ext cx="1904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Positioning Analysis</a:t>
            </a:r>
            <a:endParaRPr lang="en-US" sz="900" dirty="0"/>
          </a:p>
        </p:txBody>
      </p:sp>
      <p:sp>
        <p:nvSpPr>
          <p:cNvPr id="88" name="Text 60"/>
          <p:cNvSpPr txBox="1"/>
          <p:nvPr/>
        </p:nvSpPr>
        <p:spPr>
          <a:xfrm>
            <a:off x="11453774" y="7477049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444307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Regulatory Landscape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3602"/>
            <a:ext cx="4724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Navigating compliance with built-in mitigation strategies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38951" y="7020763"/>
            <a:ext cx="5381244" cy="780898"/>
          </a:xfrm>
          <a:prstGeom prst="roundRect">
            <a:avLst>
              <a:gd name="adj" fmla="val 34272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9205" y="7220102"/>
            <a:ext cx="12006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 Roadmap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1543507"/>
            <a:ext cx="5381244" cy="3333902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" y="1543507"/>
            <a:ext cx="38405" cy="3333902"/>
          </a:xfrm>
          <a:prstGeom prst="roundRect">
            <a:avLst>
              <a:gd name="adj" fmla="val 163264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8505" y="1848002"/>
            <a:ext cx="371246" cy="381305"/>
          </a:xfrm>
          <a:prstGeom prst="roundRect">
            <a:avLst>
              <a:gd name="adj" fmla="val 101048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7260" y="1952244"/>
            <a:ext cx="171907" cy="17190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21308" y="1781251"/>
            <a:ext cx="33723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Battery Waste Management Rules (2022)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09490" y="1781251"/>
            <a:ext cx="1114654" cy="390449"/>
          </a:xfrm>
          <a:prstGeom prst="roundRect">
            <a:avLst>
              <a:gd name="adj" fmla="val 4569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09490" y="1781251"/>
            <a:ext cx="1172261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Tailwind</a:t>
            </a:r>
            <a:endParaRPr lang="en-US" sz="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8505" y="2505456"/>
            <a:ext cx="75895" cy="758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09498" y="2447849"/>
            <a:ext cx="47823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EPR Mandate: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OEMs must ensure collection &amp; recycling of end-of-life batteries.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8505" y="3008376"/>
            <a:ext cx="75895" cy="7589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9498" y="2950769"/>
            <a:ext cx="5153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Recycling Targets: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recovery (FY24-25) ramping to 90% (FY26+).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8505" y="3297326"/>
            <a:ext cx="75895" cy="758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9498" y="3240634"/>
            <a:ext cx="47823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Recycled Content: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Mandatory ~20% recycled material in new batteries by FY30.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838505" y="3819449"/>
            <a:ext cx="4876495" cy="819302"/>
          </a:xfrm>
          <a:prstGeom prst="roundRect">
            <a:avLst>
              <a:gd name="adj" fmla="val 2076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000354" y="3943807"/>
            <a:ext cx="4668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iTarang Advantage</a:t>
            </a:r>
            <a:endParaRPr lang="en-US" sz="800" dirty="0"/>
          </a:p>
        </p:txBody>
      </p:sp>
      <p:sp>
        <p:nvSpPr>
          <p:cNvPr id="25" name="Text 18"/>
          <p:cNvSpPr txBox="1"/>
          <p:nvPr/>
        </p:nvSpPr>
        <p:spPr>
          <a:xfrm>
            <a:off x="1000354" y="4138574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lifecycle tracking module becomes essential compliance tooling for OEMs, creating a "regulatory moat."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71500" y="5100523"/>
            <a:ext cx="5381244" cy="2695651"/>
          </a:xfrm>
          <a:prstGeom prst="roundRect">
            <a:avLst>
              <a:gd name="adj" fmla="val 28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71500" y="5100523"/>
            <a:ext cx="38405" cy="2695651"/>
          </a:xfrm>
          <a:prstGeom prst="roundRect">
            <a:avLst>
              <a:gd name="adj" fmla="val 20191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38505" y="533918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42746" y="5443423"/>
            <a:ext cx="171907" cy="17190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333195" y="5401361"/>
            <a:ext cx="22329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Privacy &amp; Devices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4856378" y="5339182"/>
            <a:ext cx="866851" cy="237744"/>
          </a:xfrm>
          <a:prstGeom prst="roundRect">
            <a:avLst>
              <a:gd name="adj" fmla="val 12307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4856378" y="5339182"/>
            <a:ext cx="9244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8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38505" y="5929884"/>
            <a:ext cx="75895" cy="758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09498" y="5872277"/>
            <a:ext cx="47823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DPDP Act (2023):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Strict consent requirements for personal data processing.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38505" y="6432804"/>
            <a:ext cx="75895" cy="7589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009498" y="6375197"/>
            <a:ext cx="4896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 Certification: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Mandatory safety standards for all IoT hardware.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838505" y="6740957"/>
            <a:ext cx="4876495" cy="819302"/>
          </a:xfrm>
          <a:prstGeom prst="roundRect">
            <a:avLst>
              <a:gd name="adj" fmla="val 2076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1000354" y="6865315"/>
            <a:ext cx="4668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 Strategy</a:t>
            </a:r>
            <a:endParaRPr lang="en-US" sz="800" dirty="0"/>
          </a:p>
        </p:txBody>
      </p:sp>
      <p:sp>
        <p:nvSpPr>
          <p:cNvPr id="39" name="Text 29"/>
          <p:cNvSpPr txBox="1"/>
          <p:nvPr/>
        </p:nvSpPr>
        <p:spPr>
          <a:xfrm>
            <a:off x="1000354" y="7060082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Consent-first onboarding flow + Exclusive procurement of BIS-certified hardware partners.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6238951" y="1543507"/>
            <a:ext cx="5381244" cy="3095244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238951" y="1543507"/>
            <a:ext cx="38405" cy="3095244"/>
          </a:xfrm>
          <a:prstGeom prst="roundRect">
            <a:avLst>
              <a:gd name="adj" fmla="val 17582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505956" y="178125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610198" y="1886407"/>
            <a:ext cx="171907" cy="171907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7000646" y="1843430"/>
            <a:ext cx="247162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RBI &amp; Lending Framework</a:t>
            </a:r>
            <a:endParaRPr lang="en-US" sz="1300" dirty="0"/>
          </a:p>
        </p:txBody>
      </p:sp>
      <p:sp>
        <p:nvSpPr>
          <p:cNvPr id="45" name="Shape 34"/>
          <p:cNvSpPr/>
          <p:nvPr/>
        </p:nvSpPr>
        <p:spPr>
          <a:xfrm>
            <a:off x="10223906" y="1781251"/>
            <a:ext cx="1162202" cy="237744"/>
          </a:xfrm>
          <a:prstGeom prst="roundRect">
            <a:avLst>
              <a:gd name="adj" fmla="val 123077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10223906" y="1781251"/>
            <a:ext cx="12198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Risk</a:t>
            </a:r>
            <a:endParaRPr lang="en-US" sz="80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05956" y="2371954"/>
            <a:ext cx="75895" cy="75895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6676949" y="2314346"/>
            <a:ext cx="47823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FLDG Cap: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 Loss Default Guarantee capped at 5% (RBI 2023 guidelines).</a:t>
            </a:r>
            <a:endParaRPr lang="en-US" sz="10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505956" y="2874874"/>
            <a:ext cx="75895" cy="75895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6676949" y="2817266"/>
            <a:ext cx="47823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Lending License: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Operating as a lender requires NBFC registration and capital adequacy.</a:t>
            </a:r>
            <a:endParaRPr lang="en-US" sz="1000" dirty="0"/>
          </a:p>
        </p:txBody>
      </p:sp>
      <p:sp>
        <p:nvSpPr>
          <p:cNvPr id="51" name="Shape 38"/>
          <p:cNvSpPr/>
          <p:nvPr/>
        </p:nvSpPr>
        <p:spPr>
          <a:xfrm>
            <a:off x="6505956" y="3396996"/>
            <a:ext cx="4876495" cy="1000354"/>
          </a:xfrm>
          <a:prstGeom prst="roundRect">
            <a:avLst>
              <a:gd name="adj" fmla="val 1392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6667805" y="3520440"/>
            <a:ext cx="4668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Pivot</a:t>
            </a:r>
            <a:endParaRPr lang="en-US" sz="800" dirty="0"/>
          </a:p>
        </p:txBody>
      </p:sp>
      <p:sp>
        <p:nvSpPr>
          <p:cNvPr id="53" name="Text 40"/>
          <p:cNvSpPr txBox="1"/>
          <p:nvPr/>
        </p:nvSpPr>
        <p:spPr>
          <a:xfrm>
            <a:off x="6667805" y="3716122"/>
            <a:ext cx="46296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iTarang operates as a </a:t>
            </a:r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Service Provider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(TSP), earning fees rather than taking balance sheet risk. We enable NBFCs, we don't compete with them.</a:t>
            </a:r>
            <a:endParaRPr lang="en-US" sz="900" dirty="0"/>
          </a:p>
        </p:txBody>
      </p:sp>
      <p:sp>
        <p:nvSpPr>
          <p:cNvPr id="54" name="Shape 41"/>
          <p:cNvSpPr/>
          <p:nvPr/>
        </p:nvSpPr>
        <p:spPr>
          <a:xfrm>
            <a:off x="7962595" y="7388352"/>
            <a:ext cx="3267151" cy="38405"/>
          </a:xfrm>
          <a:prstGeom prst="roundRect">
            <a:avLst>
              <a:gd name="adj" fmla="val 2380940"/>
            </a:avLst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7962595" y="7349947"/>
            <a:ext cx="114300" cy="1143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3"/>
          <p:cNvSpPr txBox="1"/>
          <p:nvPr/>
        </p:nvSpPr>
        <p:spPr>
          <a:xfrm>
            <a:off x="7871155" y="7159752"/>
            <a:ext cx="381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FY24</a:t>
            </a:r>
            <a:endParaRPr lang="en-US" sz="900" dirty="0"/>
          </a:p>
        </p:txBody>
      </p:sp>
      <p:sp>
        <p:nvSpPr>
          <p:cNvPr id="57" name="Text 44"/>
          <p:cNvSpPr txBox="1"/>
          <p:nvPr/>
        </p:nvSpPr>
        <p:spPr>
          <a:xfrm>
            <a:off x="7505395" y="7540142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 Recovery</a:t>
            </a:r>
            <a:endParaRPr lang="en-US" sz="800" dirty="0"/>
          </a:p>
        </p:txBody>
      </p:sp>
      <p:sp>
        <p:nvSpPr>
          <p:cNvPr id="58" name="Shape 45"/>
          <p:cNvSpPr/>
          <p:nvPr/>
        </p:nvSpPr>
        <p:spPr>
          <a:xfrm>
            <a:off x="9014155" y="7349947"/>
            <a:ext cx="114300" cy="1143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6"/>
          <p:cNvSpPr txBox="1"/>
          <p:nvPr/>
        </p:nvSpPr>
        <p:spPr>
          <a:xfrm>
            <a:off x="8923630" y="7159752"/>
            <a:ext cx="372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</a:t>
            </a:r>
            <a:endParaRPr lang="en-US" sz="900" dirty="0"/>
          </a:p>
        </p:txBody>
      </p:sp>
      <p:sp>
        <p:nvSpPr>
          <p:cNvPr id="60" name="Text 47"/>
          <p:cNvSpPr txBox="1"/>
          <p:nvPr/>
        </p:nvSpPr>
        <p:spPr>
          <a:xfrm>
            <a:off x="8556955" y="7540142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Recovery</a:t>
            </a:r>
            <a:endParaRPr lang="en-US" sz="800" dirty="0"/>
          </a:p>
        </p:txBody>
      </p:sp>
      <p:sp>
        <p:nvSpPr>
          <p:cNvPr id="61" name="Shape 48"/>
          <p:cNvSpPr/>
          <p:nvPr/>
        </p:nvSpPr>
        <p:spPr>
          <a:xfrm>
            <a:off x="10064801" y="7349947"/>
            <a:ext cx="114300" cy="1143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9"/>
          <p:cNvSpPr txBox="1"/>
          <p:nvPr/>
        </p:nvSpPr>
        <p:spPr>
          <a:xfrm>
            <a:off x="9934956" y="7159752"/>
            <a:ext cx="457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FY26+</a:t>
            </a:r>
            <a:endParaRPr lang="en-US" sz="900" dirty="0"/>
          </a:p>
        </p:txBody>
      </p:sp>
      <p:sp>
        <p:nvSpPr>
          <p:cNvPr id="63" name="Text 50"/>
          <p:cNvSpPr txBox="1"/>
          <p:nvPr/>
        </p:nvSpPr>
        <p:spPr>
          <a:xfrm>
            <a:off x="9607601" y="7540142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Recovery</a:t>
            </a:r>
            <a:endParaRPr lang="en-US" sz="800" dirty="0"/>
          </a:p>
        </p:txBody>
      </p:sp>
      <p:sp>
        <p:nvSpPr>
          <p:cNvPr id="64" name="Shape 51"/>
          <p:cNvSpPr/>
          <p:nvPr/>
        </p:nvSpPr>
        <p:spPr>
          <a:xfrm>
            <a:off x="11115446" y="7349947"/>
            <a:ext cx="114300" cy="1143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2"/>
          <p:cNvSpPr txBox="1"/>
          <p:nvPr/>
        </p:nvSpPr>
        <p:spPr>
          <a:xfrm>
            <a:off x="11022178" y="7159752"/>
            <a:ext cx="381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FY30</a:t>
            </a:r>
            <a:endParaRPr lang="en-US" sz="900" dirty="0"/>
          </a:p>
        </p:txBody>
      </p:sp>
      <p:sp>
        <p:nvSpPr>
          <p:cNvPr id="66" name="Text 53"/>
          <p:cNvSpPr txBox="1"/>
          <p:nvPr/>
        </p:nvSpPr>
        <p:spPr>
          <a:xfrm>
            <a:off x="10668305" y="7540142"/>
            <a:ext cx="10104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Recycled Content</a:t>
            </a:r>
            <a:endParaRPr lang="en-US" sz="800" dirty="0"/>
          </a:p>
        </p:txBody>
      </p:sp>
      <p:sp>
        <p:nvSpPr>
          <p:cNvPr id="67" name="Shape 54"/>
          <p:cNvSpPr/>
          <p:nvPr/>
        </p:nvSpPr>
        <p:spPr>
          <a:xfrm>
            <a:off x="571500" y="8174736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8" name="Text 55"/>
          <p:cNvSpPr txBox="1"/>
          <p:nvPr/>
        </p:nvSpPr>
        <p:spPr>
          <a:xfrm>
            <a:off x="571500" y="8374990"/>
            <a:ext cx="44851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environment creates net-positive demand for lifecycle data</a:t>
            </a:r>
            <a:endParaRPr lang="en-US" sz="900" dirty="0"/>
          </a:p>
        </p:txBody>
      </p:sp>
      <p:sp>
        <p:nvSpPr>
          <p:cNvPr id="69" name="Text 56"/>
          <p:cNvSpPr txBox="1"/>
          <p:nvPr/>
        </p:nvSpPr>
        <p:spPr>
          <a:xfrm>
            <a:off x="11479378" y="8374990"/>
            <a:ext cx="219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000" dirty="0"/>
          </a:p>
        </p:txBody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529" b="-529"/>
          <a:stretch/>
        </p:blipFill>
        <p:spPr>
          <a:xfrm>
            <a:off x="10162642" y="381305"/>
            <a:ext cx="1466698" cy="295351"/>
          </a:xfrm>
          <a:prstGeom prst="rect">
            <a:avLst/>
          </a:prstGeom>
        </p:spPr>
      </p:pic>
      <p:sp>
        <p:nvSpPr>
          <p:cNvPr id="71" name="Text 57"/>
          <p:cNvSpPr/>
          <p:nvPr/>
        </p:nvSpPr>
        <p:spPr>
          <a:xfrm>
            <a:off x="10448849" y="381305"/>
            <a:ext cx="123992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#6 Addressed </a:t>
            </a:r>
            <a:endParaRPr lang="en-US" sz="800" dirty="0"/>
          </a:p>
        </p:txBody>
      </p:sp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0286086" y="473659"/>
            <a:ext cx="105156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7143" r="-7143" t="0" b="0"/>
          <a:stretch/>
        </p:blipFill>
        <p:spPr>
          <a:xfrm>
            <a:off x="8493862" y="2912364"/>
            <a:ext cx="3571646" cy="35716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381305"/>
            <a:ext cx="678119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GTM Strategy: 3-Layer Execution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933602"/>
            <a:ext cx="6534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rollout focused on Batteries Under Management (BUM) vs. vanity metrics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1543507"/>
            <a:ext cx="11048695" cy="933602"/>
          </a:xfrm>
          <a:prstGeom prst="roundRect">
            <a:avLst>
              <a:gd name="adj" fmla="val 239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76656" y="1781251"/>
            <a:ext cx="60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Shape 6"/>
          <p:cNvSpPr/>
          <p:nvPr/>
        </p:nvSpPr>
        <p:spPr>
          <a:xfrm>
            <a:off x="571500" y="2628900"/>
            <a:ext cx="11048695" cy="933602"/>
          </a:xfrm>
          <a:prstGeom prst="roundRect">
            <a:avLst>
              <a:gd name="adj" fmla="val 239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76656" y="2866644"/>
            <a:ext cx="648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8"/>
          <p:cNvSpPr/>
          <p:nvPr/>
        </p:nvSpPr>
        <p:spPr>
          <a:xfrm>
            <a:off x="571500" y="3715207"/>
            <a:ext cx="11048695" cy="1019556"/>
          </a:xfrm>
          <a:prstGeom prst="roundRect">
            <a:avLst>
              <a:gd name="adj" fmla="val 201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76656" y="3993185"/>
            <a:ext cx="657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Shape 10"/>
          <p:cNvSpPr/>
          <p:nvPr/>
        </p:nvSpPr>
        <p:spPr>
          <a:xfrm>
            <a:off x="571500" y="4957877"/>
            <a:ext cx="11048695" cy="2210105"/>
          </a:xfrm>
          <a:prstGeom prst="roundRect">
            <a:avLst>
              <a:gd name="adj" fmla="val 428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1754" y="5174590"/>
            <a:ext cx="18095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Execution Milestones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471002" y="5158130"/>
            <a:ext cx="2952598" cy="237744"/>
          </a:xfrm>
          <a:prstGeom prst="roundRect">
            <a:avLst>
              <a:gd name="adj" fmla="val 123077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2174" r="-2174" t="0" b="0"/>
          <a:stretch/>
        </p:blipFill>
        <p:spPr>
          <a:xfrm>
            <a:off x="8566099" y="5222138"/>
            <a:ext cx="123444" cy="1051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47150" y="5158130"/>
            <a:ext cx="26581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Metric: Batteries Under Management (BUM)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771754" y="5544007"/>
            <a:ext cx="3429000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33602" y="5705856"/>
            <a:ext cx="3219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(0-12 Months)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933602" y="5952744"/>
            <a:ext cx="32196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~3,000 BUM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33602" y="6372454"/>
            <a:ext cx="3219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933602" y="6657746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Cities • 20 Dealers • 2 NBFCs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384548" y="5544007"/>
            <a:ext cx="3429000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546397" y="5705856"/>
            <a:ext cx="3219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(12-24 Months)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4546397" y="5952744"/>
            <a:ext cx="32196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~25,000 BUM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4546397" y="6372454"/>
            <a:ext cx="3219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4546397" y="6657746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Cities • 100 Dealers • 5 NBFCs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7997342" y="5544007"/>
            <a:ext cx="3429000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160106" y="5705856"/>
            <a:ext cx="3219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(24-36 Months)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8160106" y="5952744"/>
            <a:ext cx="32196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90 Cities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8160106" y="6372454"/>
            <a:ext cx="3219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8160106" y="6657746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Labels • &gt;1M Data Points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1457554" y="1742846"/>
            <a:ext cx="2210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Dealer Network</a:t>
            </a:r>
            <a:endParaRPr lang="en-US" sz="13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42" b="-842"/>
          <a:stretch/>
        </p:blipFill>
        <p:spPr>
          <a:xfrm>
            <a:off x="1190549" y="1785823"/>
            <a:ext cx="190195" cy="171907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3571646" y="1802282"/>
            <a:ext cx="9144" cy="4187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3962095" y="1802282"/>
            <a:ext cx="25758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3962095" y="2017166"/>
            <a:ext cx="25758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20-30 Key EV Dealers in UP/NCR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6435547" y="1802282"/>
            <a:ext cx="25758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6435547" y="201716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 Integration + Referral Fees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8908999" y="1802282"/>
            <a:ext cx="25758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8908999" y="2017166"/>
            <a:ext cx="25758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Origination Pipeline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1190549" y="2066544"/>
            <a:ext cx="771754" cy="209398"/>
          </a:xfrm>
          <a:prstGeom prst="roundRect">
            <a:avLst>
              <a:gd name="adj" fmla="val 158793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1190549" y="2066544"/>
            <a:ext cx="848563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1-6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1438351" y="2829154"/>
            <a:ext cx="2229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NBFC Integrations</a:t>
            </a:r>
            <a:endParaRPr lang="en-US" sz="13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90549" y="2872130"/>
            <a:ext cx="171907" cy="171907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3571646" y="2888590"/>
            <a:ext cx="9144" cy="4187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3962095" y="2888590"/>
            <a:ext cx="25758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800" dirty="0"/>
          </a:p>
        </p:txBody>
      </p:sp>
      <p:sp>
        <p:nvSpPr>
          <p:cNvPr id="49" name="Text 42"/>
          <p:cNvSpPr txBox="1"/>
          <p:nvPr/>
        </p:nvSpPr>
        <p:spPr>
          <a:xfrm>
            <a:off x="3962095" y="3102559"/>
            <a:ext cx="25758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2-3 EV-focused NBFCs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6435547" y="2888590"/>
            <a:ext cx="25758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</a:t>
            </a:r>
            <a:endParaRPr lang="en-US" sz="800" dirty="0"/>
          </a:p>
        </p:txBody>
      </p:sp>
      <p:sp>
        <p:nvSpPr>
          <p:cNvPr id="51" name="Text 44"/>
          <p:cNvSpPr txBox="1"/>
          <p:nvPr/>
        </p:nvSpPr>
        <p:spPr>
          <a:xfrm>
            <a:off x="6435547" y="3102559"/>
            <a:ext cx="29471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Risk Score + Real-time Monitoring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8908999" y="2888590"/>
            <a:ext cx="25758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800" dirty="0"/>
          </a:p>
        </p:txBody>
      </p:sp>
      <p:sp>
        <p:nvSpPr>
          <p:cNvPr id="53" name="Text 46"/>
          <p:cNvSpPr txBox="1"/>
          <p:nvPr/>
        </p:nvSpPr>
        <p:spPr>
          <a:xfrm>
            <a:off x="8908999" y="3102559"/>
            <a:ext cx="25758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Throughput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1190549" y="3152851"/>
            <a:ext cx="800100" cy="209398"/>
          </a:xfrm>
          <a:prstGeom prst="roundRect">
            <a:avLst>
              <a:gd name="adj" fmla="val 158793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1190549" y="3152851"/>
            <a:ext cx="87691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3-9</a:t>
            </a:r>
            <a:endParaRPr lang="en-US" sz="900" dirty="0"/>
          </a:p>
        </p:txBody>
      </p:sp>
      <p:sp>
        <p:nvSpPr>
          <p:cNvPr id="56" name="Text 49"/>
          <p:cNvSpPr txBox="1"/>
          <p:nvPr/>
        </p:nvSpPr>
        <p:spPr>
          <a:xfrm>
            <a:off x="1438351" y="3955694"/>
            <a:ext cx="2229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Data Flywheel</a:t>
            </a:r>
            <a:endParaRPr lang="en-US" sz="1300" dirty="0"/>
          </a:p>
        </p:txBody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90549" y="3997757"/>
            <a:ext cx="171907" cy="171907"/>
          </a:xfrm>
          <a:prstGeom prst="rect">
            <a:avLst/>
          </a:prstGeom>
        </p:spPr>
      </p:pic>
      <p:sp>
        <p:nvSpPr>
          <p:cNvPr id="58" name="Shape 50"/>
          <p:cNvSpPr/>
          <p:nvPr/>
        </p:nvSpPr>
        <p:spPr>
          <a:xfrm>
            <a:off x="3571646" y="3914546"/>
            <a:ext cx="9144" cy="6190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3962095" y="3914546"/>
            <a:ext cx="25758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800" dirty="0"/>
          </a:p>
        </p:txBody>
      </p:sp>
      <p:sp>
        <p:nvSpPr>
          <p:cNvPr id="60" name="Text 52"/>
          <p:cNvSpPr txBox="1"/>
          <p:nvPr/>
        </p:nvSpPr>
        <p:spPr>
          <a:xfrm>
            <a:off x="3962095" y="4129430"/>
            <a:ext cx="25758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Effects</a:t>
            </a:r>
            <a:endParaRPr lang="en-US" sz="1000" dirty="0"/>
          </a:p>
        </p:txBody>
      </p:sp>
      <p:sp>
        <p:nvSpPr>
          <p:cNvPr id="61" name="Text 53"/>
          <p:cNvSpPr txBox="1"/>
          <p:nvPr/>
        </p:nvSpPr>
        <p:spPr>
          <a:xfrm>
            <a:off x="6435547" y="3914546"/>
            <a:ext cx="25758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</a:t>
            </a:r>
            <a:endParaRPr lang="en-US" sz="800" dirty="0"/>
          </a:p>
        </p:txBody>
      </p:sp>
      <p:sp>
        <p:nvSpPr>
          <p:cNvPr id="62" name="Text 54"/>
          <p:cNvSpPr txBox="1"/>
          <p:nvPr/>
        </p:nvSpPr>
        <p:spPr>
          <a:xfrm>
            <a:off x="6435547" y="4129430"/>
            <a:ext cx="25530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→ Better Risk Score → Lower NPA</a:t>
            </a: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8908999" y="3914546"/>
            <a:ext cx="25758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800" dirty="0"/>
          </a:p>
        </p:txBody>
      </p:sp>
      <p:sp>
        <p:nvSpPr>
          <p:cNvPr id="64" name="Text 56"/>
          <p:cNvSpPr txBox="1"/>
          <p:nvPr/>
        </p:nvSpPr>
        <p:spPr>
          <a:xfrm>
            <a:off x="8908999" y="4129430"/>
            <a:ext cx="25758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Defensible Moat</a:t>
            </a:r>
            <a:endParaRPr lang="en-US" sz="1000" dirty="0"/>
          </a:p>
        </p:txBody>
      </p:sp>
      <p:sp>
        <p:nvSpPr>
          <p:cNvPr id="65" name="Shape 57"/>
          <p:cNvSpPr/>
          <p:nvPr/>
        </p:nvSpPr>
        <p:spPr>
          <a:xfrm>
            <a:off x="1190549" y="4279392"/>
            <a:ext cx="685800" cy="209398"/>
          </a:xfrm>
          <a:prstGeom prst="roundRect">
            <a:avLst>
              <a:gd name="adj" fmla="val 158793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1190549" y="4279392"/>
            <a:ext cx="76261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6+</a:t>
            </a:r>
            <a:endParaRPr lang="en-US" sz="900" dirty="0"/>
          </a:p>
        </p:txBody>
      </p:sp>
      <p:sp>
        <p:nvSpPr>
          <p:cNvPr id="67" name="Shape 59"/>
          <p:cNvSpPr/>
          <p:nvPr/>
        </p:nvSpPr>
        <p:spPr>
          <a:xfrm>
            <a:off x="571500" y="7547458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571500" y="7747711"/>
            <a:ext cx="53437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unit economics and operational density over aggressive market share claims</a:t>
            </a:r>
            <a:endParaRPr lang="en-US" sz="900" dirty="0"/>
          </a:p>
        </p:txBody>
      </p:sp>
      <p:sp>
        <p:nvSpPr>
          <p:cNvPr id="69" name="Text 61"/>
          <p:cNvSpPr txBox="1"/>
          <p:nvPr/>
        </p:nvSpPr>
        <p:spPr>
          <a:xfrm>
            <a:off x="11508638" y="7747711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1000" dirty="0"/>
          </a:p>
        </p:txBody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630" b="-630"/>
          <a:stretch/>
        </p:blipFill>
        <p:spPr>
          <a:xfrm>
            <a:off x="9913010" y="381305"/>
            <a:ext cx="1714500" cy="295351"/>
          </a:xfrm>
          <a:prstGeom prst="rect">
            <a:avLst/>
          </a:prstGeom>
        </p:spPr>
      </p:pic>
      <p:sp>
        <p:nvSpPr>
          <p:cNvPr id="71" name="Text 62"/>
          <p:cNvSpPr/>
          <p:nvPr/>
        </p:nvSpPr>
        <p:spPr>
          <a:xfrm>
            <a:off x="10199218" y="381305"/>
            <a:ext cx="149687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#3 &amp; #7 Addressed </a:t>
            </a:r>
            <a:endParaRPr lang="en-US" sz="800" dirty="0"/>
          </a:p>
        </p:txBody>
      </p:sp>
      <p:pic>
        <p:nvPicPr>
          <p:cNvPr id="7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036454" y="473659"/>
            <a:ext cx="105156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6476695" y="9528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381305"/>
            <a:ext cx="46552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&amp; Validation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933602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execution signals backed by clear category validation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15435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7454" y="1628546"/>
            <a:ext cx="133502" cy="1335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90295" y="1567282"/>
            <a:ext cx="160934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8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71500" y="2076602"/>
            <a:ext cx="3152851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771754" y="2276856"/>
            <a:ext cx="2862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NBFC Partners 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3333902" y="2293315"/>
            <a:ext cx="190195" cy="1527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71754" y="2576779"/>
            <a:ext cx="286298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LOIs</a:t>
            </a:r>
            <a:endParaRPr lang="en-US" sz="2100" dirty="0"/>
          </a:p>
        </p:txBody>
      </p:sp>
      <p:sp>
        <p:nvSpPr>
          <p:cNvPr id="15" name="Shape 9"/>
          <p:cNvSpPr/>
          <p:nvPr/>
        </p:nvSpPr>
        <p:spPr>
          <a:xfrm>
            <a:off x="771754" y="3014777"/>
            <a:ext cx="676656" cy="200254"/>
          </a:xfrm>
          <a:prstGeom prst="roundRect">
            <a:avLst>
              <a:gd name="adj" fmla="val 45662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771754" y="3014777"/>
            <a:ext cx="7525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Pipeline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3877056" y="2076602"/>
            <a:ext cx="3152851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4076395" y="2276856"/>
            <a:ext cx="2862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Dealer Network 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6657746" y="2293315"/>
            <a:ext cx="171907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076395" y="2576779"/>
            <a:ext cx="286298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20+ Active</a:t>
            </a:r>
            <a:endParaRPr lang="en-US" sz="2100" dirty="0"/>
          </a:p>
        </p:txBody>
      </p:sp>
      <p:sp>
        <p:nvSpPr>
          <p:cNvPr id="21" name="Shape 14"/>
          <p:cNvSpPr/>
          <p:nvPr/>
        </p:nvSpPr>
        <p:spPr>
          <a:xfrm>
            <a:off x="4076395" y="3014777"/>
            <a:ext cx="724205" cy="200254"/>
          </a:xfrm>
          <a:prstGeom prst="roundRect">
            <a:avLst>
              <a:gd name="adj" fmla="val 45662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4076395" y="3014777"/>
            <a:ext cx="80010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Onboarded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571500" y="3562502"/>
            <a:ext cx="3152851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4" name="Text 17"/>
          <p:cNvSpPr txBox="1"/>
          <p:nvPr/>
        </p:nvSpPr>
        <p:spPr>
          <a:xfrm>
            <a:off x="771754" y="3762756"/>
            <a:ext cx="2862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Pilot Battery Assets 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-33" r="-33" t="0" b="0"/>
          <a:stretch/>
        </p:blipFill>
        <p:spPr>
          <a:xfrm>
            <a:off x="3353105" y="3779215"/>
            <a:ext cx="171907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71754" y="4062679"/>
            <a:ext cx="286298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~150 Units</a:t>
            </a:r>
            <a:endParaRPr lang="en-US" sz="2100" dirty="0"/>
          </a:p>
        </p:txBody>
      </p:sp>
      <p:sp>
        <p:nvSpPr>
          <p:cNvPr id="27" name="Shape 19"/>
          <p:cNvSpPr/>
          <p:nvPr/>
        </p:nvSpPr>
        <p:spPr>
          <a:xfrm>
            <a:off x="771754" y="4500677"/>
            <a:ext cx="942746" cy="200254"/>
          </a:xfrm>
          <a:prstGeom prst="roundRect">
            <a:avLst>
              <a:gd name="adj" fmla="val 45662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771754" y="4500677"/>
            <a:ext cx="101955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Monitoring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3877056" y="3562502"/>
            <a:ext cx="3152851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4076395" y="3762756"/>
            <a:ext cx="2862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Recovery Rate 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76949" y="3779215"/>
            <a:ext cx="152705" cy="15270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076395" y="4062679"/>
            <a:ext cx="286298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2100" dirty="0"/>
          </a:p>
        </p:txBody>
      </p:sp>
      <p:sp>
        <p:nvSpPr>
          <p:cNvPr id="33" name="Shape 24"/>
          <p:cNvSpPr/>
          <p:nvPr/>
        </p:nvSpPr>
        <p:spPr>
          <a:xfrm>
            <a:off x="4076395" y="4500677"/>
            <a:ext cx="676656" cy="200254"/>
          </a:xfrm>
          <a:prstGeom prst="roundRect">
            <a:avLst>
              <a:gd name="adj" fmla="val 456620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4076395" y="4500677"/>
            <a:ext cx="7525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2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Data</a:t>
            </a:r>
            <a:endParaRPr lang="en-US" sz="800" dirty="0"/>
          </a:p>
        </p:txBody>
      </p:sp>
      <p:sp>
        <p:nvSpPr>
          <p:cNvPr id="35" name="Shape 26"/>
          <p:cNvSpPr/>
          <p:nvPr/>
        </p:nvSpPr>
        <p:spPr>
          <a:xfrm>
            <a:off x="571500" y="5086807"/>
            <a:ext cx="6458407" cy="1019556"/>
          </a:xfrm>
          <a:prstGeom prst="roundRect">
            <a:avLst>
              <a:gd name="adj" fmla="val 201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1019556" y="5286146"/>
            <a:ext cx="59243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Tech Readiness (MVP) </a:t>
            </a:r>
            <a:endParaRPr lang="en-US" sz="10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-1507" r="-1507" t="0" b="0"/>
          <a:stretch/>
        </p:blipFill>
        <p:spPr>
          <a:xfrm>
            <a:off x="771754" y="5319979"/>
            <a:ext cx="171907" cy="13350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771754" y="5600700"/>
            <a:ext cx="1371600" cy="304495"/>
          </a:xfrm>
          <a:prstGeom prst="roundRect">
            <a:avLst>
              <a:gd name="adj" fmla="val 1126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1038758" y="5600700"/>
            <a:ext cx="11622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Telemetry Module</a:t>
            </a:r>
            <a:endParaRPr lang="en-US" sz="9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-1648" r="-1648" t="0" b="0"/>
          <a:stretch/>
        </p:blipFill>
        <p:spPr>
          <a:xfrm>
            <a:off x="895198" y="5705856"/>
            <a:ext cx="85954" cy="95098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2251253" y="5600700"/>
            <a:ext cx="1095451" cy="304495"/>
          </a:xfrm>
          <a:prstGeom prst="roundRect">
            <a:avLst>
              <a:gd name="adj" fmla="val 1126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2518258" y="5600700"/>
            <a:ext cx="88605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Dealer Portal</a:t>
            </a:r>
            <a:endParaRPr lang="en-US" sz="9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rcRect l="-1648" r="-1648" t="0" b="0"/>
          <a:stretch/>
        </p:blipFill>
        <p:spPr>
          <a:xfrm>
            <a:off x="2374697" y="5705856"/>
            <a:ext cx="85954" cy="95098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3455518" y="5600700"/>
            <a:ext cx="1295705" cy="304495"/>
          </a:xfrm>
          <a:prstGeom prst="roundRect">
            <a:avLst>
              <a:gd name="adj" fmla="val 1126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3722522" y="5600700"/>
            <a:ext cx="10863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Loan Processing</a:t>
            </a:r>
            <a:endParaRPr lang="en-US" sz="9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-1648" r="-1648" t="0" b="0"/>
          <a:stretch/>
        </p:blipFill>
        <p:spPr>
          <a:xfrm>
            <a:off x="3579876" y="5705856"/>
            <a:ext cx="85954" cy="95098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4859122" y="5600700"/>
            <a:ext cx="1162202" cy="304495"/>
          </a:xfrm>
          <a:prstGeom prst="roundRect">
            <a:avLst>
              <a:gd name="adj" fmla="val 1126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5126126" y="5600700"/>
            <a:ext cx="9528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Risk Engine v1</a:t>
            </a:r>
            <a:endParaRPr lang="en-US" sz="90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rcRect l="-1648" r="-1648" t="0" b="0"/>
          <a:stretch/>
        </p:blipFill>
        <p:spPr>
          <a:xfrm>
            <a:off x="4983480" y="5705856"/>
            <a:ext cx="85954" cy="95098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7315200" y="1543507"/>
            <a:ext cx="4304995" cy="3791102"/>
          </a:xfrm>
          <a:prstGeom prst="roundRect">
            <a:avLst>
              <a:gd name="adj" fmla="val 1454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>
            <a:off x="7552944" y="178125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842" b="-842"/>
          <a:stretch/>
        </p:blipFill>
        <p:spPr>
          <a:xfrm>
            <a:off x="7648956" y="1886407"/>
            <a:ext cx="190195" cy="171907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8048549" y="1843430"/>
            <a:ext cx="195041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Category Validation</a:t>
            </a:r>
            <a:endParaRPr lang="en-US" sz="1300" dirty="0"/>
          </a:p>
        </p:txBody>
      </p:sp>
      <p:sp>
        <p:nvSpPr>
          <p:cNvPr id="54" name="Shape 39"/>
          <p:cNvSpPr/>
          <p:nvPr/>
        </p:nvSpPr>
        <p:spPr>
          <a:xfrm>
            <a:off x="7552944" y="2352751"/>
            <a:ext cx="3829507" cy="1114654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/>
        </p:spPr>
      </p:sp>
      <p:sp>
        <p:nvSpPr>
          <p:cNvPr id="55" name="Shape 40"/>
          <p:cNvSpPr/>
          <p:nvPr/>
        </p:nvSpPr>
        <p:spPr>
          <a:xfrm>
            <a:off x="7552944" y="2352751"/>
            <a:ext cx="38405" cy="1114654"/>
          </a:xfrm>
          <a:prstGeom prst="roundRect">
            <a:avLst>
              <a:gd name="adj" fmla="val 325599"/>
            </a:avLst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6" name="Text 41"/>
          <p:cNvSpPr txBox="1"/>
          <p:nvPr/>
        </p:nvSpPr>
        <p:spPr>
          <a:xfrm>
            <a:off x="7744054" y="2505456"/>
            <a:ext cx="3600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 Benchmark: Chargeup</a:t>
            </a:r>
            <a:endParaRPr lang="en-US" sz="1000" dirty="0"/>
          </a:p>
        </p:txBody>
      </p:sp>
      <p:sp>
        <p:nvSpPr>
          <p:cNvPr id="57" name="Text 42"/>
          <p:cNvSpPr txBox="1"/>
          <p:nvPr/>
        </p:nvSpPr>
        <p:spPr>
          <a:xfrm>
            <a:off x="7697419" y="2781605"/>
            <a:ext cx="578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₹20 Cr</a:t>
            </a:r>
            <a:endParaRPr lang="en-US" sz="1200" dirty="0"/>
          </a:p>
        </p:txBody>
      </p:sp>
      <p:sp>
        <p:nvSpPr>
          <p:cNvPr id="58" name="Text 43"/>
          <p:cNvSpPr txBox="1"/>
          <p:nvPr/>
        </p:nvSpPr>
        <p:spPr>
          <a:xfrm>
            <a:off x="9090050" y="2781605"/>
            <a:ext cx="590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7,000+</a:t>
            </a:r>
            <a:endParaRPr lang="en-US" sz="1200" dirty="0"/>
          </a:p>
        </p:txBody>
      </p:sp>
      <p:sp>
        <p:nvSpPr>
          <p:cNvPr id="59" name="Text 44"/>
          <p:cNvSpPr txBox="1"/>
          <p:nvPr/>
        </p:nvSpPr>
        <p:spPr>
          <a:xfrm>
            <a:off x="10500055" y="2781605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EBITDA+</a:t>
            </a:r>
            <a:endParaRPr lang="en-US" sz="1200" dirty="0"/>
          </a:p>
        </p:txBody>
      </p:sp>
      <p:sp>
        <p:nvSpPr>
          <p:cNvPr id="60" name="Shape 45"/>
          <p:cNvSpPr/>
          <p:nvPr/>
        </p:nvSpPr>
        <p:spPr>
          <a:xfrm>
            <a:off x="7552944" y="3619195"/>
            <a:ext cx="3829507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/>
        </p:spPr>
      </p:sp>
      <p:sp>
        <p:nvSpPr>
          <p:cNvPr id="61" name="Shape 46"/>
          <p:cNvSpPr/>
          <p:nvPr/>
        </p:nvSpPr>
        <p:spPr>
          <a:xfrm>
            <a:off x="7552944" y="3619195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62" name="Text 47"/>
          <p:cNvSpPr txBox="1"/>
          <p:nvPr/>
        </p:nvSpPr>
        <p:spPr>
          <a:xfrm>
            <a:off x="7744054" y="3771900"/>
            <a:ext cx="3600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Signal: Mufin Green Finance</a:t>
            </a:r>
            <a:endParaRPr lang="en-US" sz="1000" dirty="0"/>
          </a:p>
        </p:txBody>
      </p:sp>
      <p:sp>
        <p:nvSpPr>
          <p:cNvPr id="63" name="Text 48"/>
          <p:cNvSpPr txBox="1"/>
          <p:nvPr/>
        </p:nvSpPr>
        <p:spPr>
          <a:xfrm>
            <a:off x="7744054" y="4048049"/>
            <a:ext cx="35625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Rapidly growing battery-only loan book confirms strong demand for unbundled asset financing.</a:t>
            </a:r>
            <a:endParaRPr lang="en-US" sz="900" dirty="0"/>
          </a:p>
        </p:txBody>
      </p:sp>
      <p:sp>
        <p:nvSpPr>
          <p:cNvPr id="64" name="Text 49"/>
          <p:cNvSpPr txBox="1"/>
          <p:nvPr/>
        </p:nvSpPr>
        <p:spPr>
          <a:xfrm>
            <a:off x="7552944" y="4724705"/>
            <a:ext cx="39054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market is proven. The next winner will be the one who owns the asset lifecycle data, not just the customer interface."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7315200" y="5524805"/>
            <a:ext cx="4304995" cy="990295"/>
          </a:xfrm>
          <a:prstGeom prst="roundRect">
            <a:avLst>
              <a:gd name="adj" fmla="val 21308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1"/>
          <p:cNvSpPr txBox="1"/>
          <p:nvPr/>
        </p:nvSpPr>
        <p:spPr>
          <a:xfrm>
            <a:off x="7601407" y="5715000"/>
            <a:ext cx="3514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Post-Raise Objective</a:t>
            </a:r>
            <a:endParaRPr lang="en-US" sz="1200" dirty="0"/>
          </a:p>
        </p:txBody>
      </p:sp>
      <p:sp>
        <p:nvSpPr>
          <p:cNvPr id="67" name="Text 52"/>
          <p:cNvSpPr txBox="1"/>
          <p:nvPr/>
        </p:nvSpPr>
        <p:spPr>
          <a:xfrm>
            <a:off x="7601407" y="5982005"/>
            <a:ext cx="3477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LOIs into 3,000 Batteries Under Management within 12 months</a:t>
            </a:r>
            <a:endParaRPr lang="en-US" sz="900" dirty="0"/>
          </a:p>
        </p:txBody>
      </p:sp>
      <p:sp>
        <p:nvSpPr>
          <p:cNvPr id="68" name="Shape 53"/>
          <p:cNvSpPr/>
          <p:nvPr/>
        </p:nvSpPr>
        <p:spPr>
          <a:xfrm>
            <a:off x="10996574" y="5829300"/>
            <a:ext cx="342900" cy="381305"/>
          </a:xfrm>
          <a:prstGeom prst="roundRect">
            <a:avLst>
              <a:gd name="adj" fmla="val 266667"/>
            </a:avLst>
          </a:prstGeom>
          <a:solidFill>
            <a:srgbClr val="2DD4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13" descr="preencoded.png">    </p:cNvPr>
          <p:cNvPicPr>
            <a:picLocks noChangeAspect="1"/>
          </p:cNvPicPr>
          <p:nvPr/>
        </p:nvPicPr>
        <p:blipFill>
          <a:blip r:embed="rId14"/>
          <a:srcRect l="-760" r="-760" t="0" b="0"/>
          <a:stretch/>
        </p:blipFill>
        <p:spPr>
          <a:xfrm>
            <a:off x="11089843" y="5934456"/>
            <a:ext cx="152705" cy="171907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7851953" y="3086100"/>
            <a:ext cx="267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</a:t>
            </a:r>
            <a:endParaRPr lang="en-US" sz="800" dirty="0"/>
          </a:p>
        </p:txBody>
      </p:sp>
      <p:sp>
        <p:nvSpPr>
          <p:cNvPr id="71" name="Text 55"/>
          <p:cNvSpPr txBox="1"/>
          <p:nvPr/>
        </p:nvSpPr>
        <p:spPr>
          <a:xfrm>
            <a:off x="9143086" y="3086100"/>
            <a:ext cx="4864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</a:t>
            </a:r>
            <a:endParaRPr lang="en-US" sz="800" dirty="0"/>
          </a:p>
        </p:txBody>
      </p:sp>
      <p:sp>
        <p:nvSpPr>
          <p:cNvPr id="72" name="Text 56"/>
          <p:cNvSpPr txBox="1"/>
          <p:nvPr/>
        </p:nvSpPr>
        <p:spPr>
          <a:xfrm>
            <a:off x="10500055" y="3086100"/>
            <a:ext cx="7717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800" dirty="0"/>
          </a:p>
        </p:txBody>
      </p:sp>
      <p:sp>
        <p:nvSpPr>
          <p:cNvPr id="73" name="Shape 57"/>
          <p:cNvSpPr/>
          <p:nvPr/>
        </p:nvSpPr>
        <p:spPr>
          <a:xfrm>
            <a:off x="571500" y="6896405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4" name="Text 58"/>
          <p:cNvSpPr txBox="1"/>
          <p:nvPr/>
        </p:nvSpPr>
        <p:spPr>
          <a:xfrm>
            <a:off x="571500" y="7095744"/>
            <a:ext cx="30723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traction signals de-risk the execution path</a:t>
            </a:r>
            <a:endParaRPr lang="en-US" sz="900" dirty="0"/>
          </a:p>
        </p:txBody>
      </p:sp>
      <p:sp>
        <p:nvSpPr>
          <p:cNvPr id="75" name="Text 59"/>
          <p:cNvSpPr txBox="1"/>
          <p:nvPr/>
        </p:nvSpPr>
        <p:spPr>
          <a:xfrm>
            <a:off x="11483950" y="7095744"/>
            <a:ext cx="219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381305"/>
            <a:ext cx="486826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Roadmap: 36-Month Plan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933602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path from foundation to national scale &amp; product depth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5928055"/>
            <a:ext cx="11048695" cy="609905"/>
          </a:xfrm>
          <a:prstGeom prst="roundRect">
            <a:avLst>
              <a:gd name="adj" fmla="val 56222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05510" y="6118250"/>
            <a:ext cx="1562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Expected Outcomes 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7707" y="6156655"/>
            <a:ext cx="152705" cy="1527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832958" y="6204204"/>
            <a:ext cx="57607" cy="57607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966460" y="6140196"/>
            <a:ext cx="18141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De-risked Unit Economics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7774229" y="6204204"/>
            <a:ext cx="57607" cy="57607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907731" y="6140196"/>
            <a:ext cx="17711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 GTM Playbook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9740189" y="6204204"/>
            <a:ext cx="57607" cy="57607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873691" y="6140196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Compounding Data Moat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1123798" y="1923898"/>
            <a:ext cx="9944100" cy="38405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02" b="-402"/>
          <a:stretch/>
        </p:blipFill>
        <p:spPr>
          <a:xfrm>
            <a:off x="1123798" y="1923898"/>
            <a:ext cx="3866998" cy="3840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71500" y="1733702"/>
            <a:ext cx="3429000" cy="3629254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580644" y="3000146"/>
            <a:ext cx="34097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52551" y="1971446"/>
            <a:ext cx="3067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7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01</a:t>
            </a:r>
            <a:endParaRPr lang="en-US" sz="800" dirty="0"/>
          </a:p>
        </p:txBody>
      </p:sp>
      <p:sp>
        <p:nvSpPr>
          <p:cNvPr id="22" name="Text 15"/>
          <p:cNvSpPr txBox="1"/>
          <p:nvPr/>
        </p:nvSpPr>
        <p:spPr>
          <a:xfrm>
            <a:off x="752551" y="2204618"/>
            <a:ext cx="30678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1794967" y="2595982"/>
            <a:ext cx="990295" cy="247802"/>
          </a:xfrm>
          <a:prstGeom prst="roundRect">
            <a:avLst>
              <a:gd name="adj" fmla="val 340619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766621" y="2595982"/>
            <a:ext cx="10479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0 - 12 Months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" y="3262579"/>
            <a:ext cx="133502" cy="13350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37844" y="3233318"/>
            <a:ext cx="13834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Platform Live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09244" y="3544214"/>
            <a:ext cx="133502" cy="1335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37844" y="3515868"/>
            <a:ext cx="18141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NBFC API Integrations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09244" y="3825850"/>
            <a:ext cx="133502" cy="13350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037844" y="3797503"/>
            <a:ext cx="1349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Cities Launched</a:t>
            </a:r>
            <a:endParaRPr lang="en-US" sz="10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09244" y="4108399"/>
            <a:ext cx="133502" cy="13350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037844" y="4079138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Team Hired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809244" y="4418381"/>
            <a:ext cx="2952598" cy="705002"/>
          </a:xfrm>
          <a:prstGeom prst="roundRect">
            <a:avLst>
              <a:gd name="adj" fmla="val 280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3"/>
          <p:cNvSpPr txBox="1"/>
          <p:nvPr/>
        </p:nvSpPr>
        <p:spPr>
          <a:xfrm>
            <a:off x="879653" y="4541825"/>
            <a:ext cx="281360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</a:t>
            </a:r>
            <a:endParaRPr lang="en-US" sz="800" dirty="0"/>
          </a:p>
        </p:txBody>
      </p:sp>
      <p:sp>
        <p:nvSpPr>
          <p:cNvPr id="35" name="Text 24"/>
          <p:cNvSpPr txBox="1"/>
          <p:nvPr/>
        </p:nvSpPr>
        <p:spPr>
          <a:xfrm>
            <a:off x="1735531" y="4756709"/>
            <a:ext cx="11045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~3,000 BUM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4381805" y="1733702"/>
            <a:ext cx="3429000" cy="3629254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4390949" y="3000146"/>
            <a:ext cx="34097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4562856" y="1971446"/>
            <a:ext cx="3067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7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02</a:t>
            </a:r>
            <a:endParaRPr lang="en-US" sz="800" dirty="0"/>
          </a:p>
        </p:txBody>
      </p:sp>
      <p:sp>
        <p:nvSpPr>
          <p:cNvPr id="39" name="Text 28"/>
          <p:cNvSpPr txBox="1"/>
          <p:nvPr/>
        </p:nvSpPr>
        <p:spPr>
          <a:xfrm>
            <a:off x="4562856" y="2204618"/>
            <a:ext cx="30678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40" name="Shape 29"/>
          <p:cNvSpPr/>
          <p:nvPr/>
        </p:nvSpPr>
        <p:spPr>
          <a:xfrm>
            <a:off x="5570525" y="2595982"/>
            <a:ext cx="1057046" cy="247802"/>
          </a:xfrm>
          <a:prstGeom prst="roundRect">
            <a:avLst>
              <a:gd name="adj" fmla="val 340619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5541264" y="2595982"/>
            <a:ext cx="11146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12 - 24 Months</a:t>
            </a:r>
            <a:endParaRPr lang="en-US" sz="9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619549" y="3262579"/>
            <a:ext cx="133502" cy="13350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4848149" y="3233318"/>
            <a:ext cx="1541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Cities Operational</a:t>
            </a:r>
            <a:endParaRPr lang="en-US" sz="10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619549" y="3544214"/>
            <a:ext cx="133502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4848149" y="3515868"/>
            <a:ext cx="1484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Dealer Network</a:t>
            </a:r>
            <a:endParaRPr lang="en-US" sz="10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619549" y="3825850"/>
            <a:ext cx="133502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4848149" y="3797503"/>
            <a:ext cx="1576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i-Distribution</a:t>
            </a:r>
            <a:endParaRPr lang="en-US" sz="10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619549" y="4108399"/>
            <a:ext cx="133502" cy="133502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4848149" y="4079138"/>
            <a:ext cx="1541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Ops Active</a:t>
            </a:r>
            <a:endParaRPr lang="en-US" sz="1000" dirty="0"/>
          </a:p>
        </p:txBody>
      </p:sp>
      <p:sp>
        <p:nvSpPr>
          <p:cNvPr id="50" name="Shape 35"/>
          <p:cNvSpPr/>
          <p:nvPr/>
        </p:nvSpPr>
        <p:spPr>
          <a:xfrm>
            <a:off x="4619549" y="4418381"/>
            <a:ext cx="2952598" cy="705002"/>
          </a:xfrm>
          <a:prstGeom prst="roundRect">
            <a:avLst>
              <a:gd name="adj" fmla="val 280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4689043" y="4541825"/>
            <a:ext cx="281360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</a:t>
            </a:r>
            <a:endParaRPr lang="en-US" sz="800" dirty="0"/>
          </a:p>
        </p:txBody>
      </p:sp>
      <p:sp>
        <p:nvSpPr>
          <p:cNvPr id="52" name="Text 37"/>
          <p:cNvSpPr txBox="1"/>
          <p:nvPr/>
        </p:nvSpPr>
        <p:spPr>
          <a:xfrm>
            <a:off x="5492801" y="4756709"/>
            <a:ext cx="12143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~25,000 BUM</a:t>
            </a:r>
            <a:endParaRPr lang="en-US" sz="1300" dirty="0"/>
          </a:p>
        </p:txBody>
      </p:sp>
      <p:sp>
        <p:nvSpPr>
          <p:cNvPr id="53" name="Shape 38"/>
          <p:cNvSpPr/>
          <p:nvPr/>
        </p:nvSpPr>
        <p:spPr>
          <a:xfrm>
            <a:off x="8191195" y="1733702"/>
            <a:ext cx="3429000" cy="3629254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54" name="Shape 39"/>
          <p:cNvSpPr/>
          <p:nvPr/>
        </p:nvSpPr>
        <p:spPr>
          <a:xfrm>
            <a:off x="8201254" y="3000146"/>
            <a:ext cx="34097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5" name="Text 40"/>
          <p:cNvSpPr txBox="1"/>
          <p:nvPr/>
        </p:nvSpPr>
        <p:spPr>
          <a:xfrm>
            <a:off x="8372246" y="1971446"/>
            <a:ext cx="3067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7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03</a:t>
            </a:r>
            <a:endParaRPr lang="en-US" sz="800" dirty="0"/>
          </a:p>
        </p:txBody>
      </p:sp>
      <p:sp>
        <p:nvSpPr>
          <p:cNvPr id="56" name="Text 41"/>
          <p:cNvSpPr txBox="1"/>
          <p:nvPr/>
        </p:nvSpPr>
        <p:spPr>
          <a:xfrm>
            <a:off x="8372246" y="2204618"/>
            <a:ext cx="30678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Depth</a:t>
            </a:r>
            <a:endParaRPr lang="en-US" sz="1600" dirty="0"/>
          </a:p>
        </p:txBody>
      </p:sp>
      <p:sp>
        <p:nvSpPr>
          <p:cNvPr id="57" name="Shape 42"/>
          <p:cNvSpPr/>
          <p:nvPr/>
        </p:nvSpPr>
        <p:spPr>
          <a:xfrm>
            <a:off x="9367114" y="2595982"/>
            <a:ext cx="1086307" cy="247802"/>
          </a:xfrm>
          <a:prstGeom prst="roundRect">
            <a:avLst>
              <a:gd name="adj" fmla="val 34061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3"/>
          <p:cNvSpPr txBox="1"/>
          <p:nvPr/>
        </p:nvSpPr>
        <p:spPr>
          <a:xfrm>
            <a:off x="9338767" y="2595982"/>
            <a:ext cx="11430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24 - 36 Months</a:t>
            </a:r>
            <a:endParaRPr lang="en-US" sz="900" dirty="0"/>
          </a:p>
        </p:txBody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429854" y="3262579"/>
            <a:ext cx="133502" cy="133502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8658454" y="3233318"/>
            <a:ext cx="21652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Footprint (90 Cities)</a:t>
            </a:r>
            <a:endParaRPr lang="en-US" sz="1000" dirty="0"/>
          </a:p>
        </p:txBody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429854" y="3544214"/>
            <a:ext cx="133502" cy="133502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8658454" y="3515868"/>
            <a:ext cx="1576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Label Launch</a:t>
            </a:r>
            <a:endParaRPr lang="en-US" sz="1000" dirty="0"/>
          </a:p>
        </p:txBody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429854" y="3825850"/>
            <a:ext cx="133502" cy="133502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8658454" y="3797503"/>
            <a:ext cx="13258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EPR Tooling</a:t>
            </a:r>
            <a:endParaRPr lang="en-US" sz="1000" dirty="0"/>
          </a:p>
        </p:txBody>
      </p:sp>
      <p:pic>
        <p:nvPicPr>
          <p:cNvPr id="6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429854" y="4108399"/>
            <a:ext cx="133502" cy="133502"/>
          </a:xfrm>
          <a:prstGeom prst="rect">
            <a:avLst/>
          </a:prstGeom>
        </p:spPr>
      </p:pic>
      <p:sp>
        <p:nvSpPr>
          <p:cNvPr id="66" name="Text 47"/>
          <p:cNvSpPr txBox="1"/>
          <p:nvPr/>
        </p:nvSpPr>
        <p:spPr>
          <a:xfrm>
            <a:off x="8658454" y="4079138"/>
            <a:ext cx="19156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Second-Life Partnerships</a:t>
            </a:r>
            <a:endParaRPr lang="en-US" sz="1000" dirty="0"/>
          </a:p>
        </p:txBody>
      </p:sp>
      <p:sp>
        <p:nvSpPr>
          <p:cNvPr id="67" name="Shape 48"/>
          <p:cNvSpPr/>
          <p:nvPr/>
        </p:nvSpPr>
        <p:spPr>
          <a:xfrm>
            <a:off x="8429854" y="4418381"/>
            <a:ext cx="2952598" cy="705002"/>
          </a:xfrm>
          <a:prstGeom prst="roundRect">
            <a:avLst>
              <a:gd name="adj" fmla="val 280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49"/>
          <p:cNvSpPr txBox="1"/>
          <p:nvPr/>
        </p:nvSpPr>
        <p:spPr>
          <a:xfrm>
            <a:off x="8499348" y="4541825"/>
            <a:ext cx="281360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</a:t>
            </a:r>
            <a:endParaRPr lang="en-US" sz="800" dirty="0"/>
          </a:p>
        </p:txBody>
      </p:sp>
      <p:sp>
        <p:nvSpPr>
          <p:cNvPr id="69" name="Text 50"/>
          <p:cNvSpPr txBox="1"/>
          <p:nvPr/>
        </p:nvSpPr>
        <p:spPr>
          <a:xfrm>
            <a:off x="9114739" y="4756709"/>
            <a:ext cx="15873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&gt;1M Data Points</a:t>
            </a:r>
            <a:endParaRPr lang="en-US" sz="1300" dirty="0"/>
          </a:p>
        </p:txBody>
      </p:sp>
      <p:sp>
        <p:nvSpPr>
          <p:cNvPr id="70" name="Shape 51"/>
          <p:cNvSpPr/>
          <p:nvPr/>
        </p:nvSpPr>
        <p:spPr>
          <a:xfrm>
            <a:off x="2210105" y="1495044"/>
            <a:ext cx="152705" cy="152705"/>
          </a:xfrm>
          <a:prstGeom prst="ellipse">
            <a:avLst/>
          </a:prstGeom>
          <a:solidFill>
            <a:srgbClr val="F0FDFA"/>
          </a:solidFill>
          <a:ln w="50800">
            <a:solidFill>
              <a:srgbClr val="0D9488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6019495" y="1495044"/>
            <a:ext cx="152705" cy="152705"/>
          </a:xfrm>
          <a:prstGeom prst="ellipse">
            <a:avLst/>
          </a:prstGeom>
          <a:solidFill>
            <a:srgbClr val="FFF7ED"/>
          </a:solidFill>
          <a:ln w="50800">
            <a:solidFill>
              <a:srgbClr val="EA580C"/>
            </a:solidFill>
            <a:prstDash val="solid"/>
          </a:ln>
        </p:spPr>
      </p:sp>
      <p:sp>
        <p:nvSpPr>
          <p:cNvPr id="72" name="Shape 53"/>
          <p:cNvSpPr/>
          <p:nvPr/>
        </p:nvSpPr>
        <p:spPr>
          <a:xfrm>
            <a:off x="9829800" y="1495044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94A3B8"/>
            </a:solidFill>
            <a:prstDash val="solid"/>
          </a:ln>
        </p:spPr>
      </p:sp>
      <p:sp>
        <p:nvSpPr>
          <p:cNvPr id="73" name="Shape 54"/>
          <p:cNvSpPr/>
          <p:nvPr/>
        </p:nvSpPr>
        <p:spPr>
          <a:xfrm>
            <a:off x="571500" y="6918350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4" name="Text 55"/>
          <p:cNvSpPr txBox="1"/>
          <p:nvPr/>
        </p:nvSpPr>
        <p:spPr>
          <a:xfrm>
            <a:off x="571500" y="7118604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scaling from pilot to platform dominance</a:t>
            </a:r>
            <a:endParaRPr lang="en-US" sz="900" dirty="0"/>
          </a:p>
        </p:txBody>
      </p:sp>
      <p:sp>
        <p:nvSpPr>
          <p:cNvPr id="75" name="Text 56"/>
          <p:cNvSpPr txBox="1"/>
          <p:nvPr/>
        </p:nvSpPr>
        <p:spPr>
          <a:xfrm>
            <a:off x="11483950" y="7118604"/>
            <a:ext cx="219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0" b="0"/>
          <a:stretch/>
        </p:blipFill>
        <p:spPr>
          <a:xfrm>
            <a:off x="9334195" y="4000500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381305"/>
            <a:ext cx="423001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&amp; Organization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933602"/>
            <a:ext cx="4638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for execution velocity and risk management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3705149"/>
            <a:ext cx="2190902" cy="2553005"/>
          </a:xfrm>
          <a:prstGeom prst="roundRect">
            <a:avLst>
              <a:gd name="adj" fmla="val 36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3349" y="4286707"/>
            <a:ext cx="1867205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3349" y="38669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800100" y="3952951"/>
            <a:ext cx="171907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33856" y="3919118"/>
            <a:ext cx="16212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Head of Partnerships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733349" y="4410151"/>
            <a:ext cx="1942186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Driving NBFC integrations and expanding dealer/OEM alliances network.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733349" y="5915254"/>
            <a:ext cx="638251" cy="181051"/>
          </a:xfrm>
          <a:prstGeom prst="roundRect">
            <a:avLst>
              <a:gd name="adj" fmla="val 21265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23544" y="5915254"/>
            <a:ext cx="52486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 Hire 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0956" y="5958230"/>
            <a:ext cx="95098" cy="9509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2950769" y="3705149"/>
            <a:ext cx="2190902" cy="2553005"/>
          </a:xfrm>
          <a:prstGeom prst="roundRect">
            <a:avLst>
              <a:gd name="adj" fmla="val 36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112618" y="4286707"/>
            <a:ext cx="1867205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112618" y="38669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198571" y="3952951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512210" y="3919118"/>
            <a:ext cx="13944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Credit &amp; Risk Head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3112618" y="4410151"/>
            <a:ext cx="1942186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underwriting models, scorecards, and managing portfolio NPA.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3112618" y="5915254"/>
            <a:ext cx="638251" cy="181051"/>
          </a:xfrm>
          <a:prstGeom prst="roundRect">
            <a:avLst>
              <a:gd name="adj" fmla="val 21265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3302813" y="5915254"/>
            <a:ext cx="52486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 Hire </a:t>
            </a:r>
            <a:endParaRPr lang="en-US" sz="8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169310" y="5958230"/>
            <a:ext cx="95098" cy="9509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330038" y="3705149"/>
            <a:ext cx="2190902" cy="2553005"/>
          </a:xfrm>
          <a:prstGeom prst="roundRect">
            <a:avLst>
              <a:gd name="adj" fmla="val 36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491886" y="4286707"/>
            <a:ext cx="1867205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491886" y="38669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-837" r="-837" t="0" b="0"/>
          <a:stretch/>
        </p:blipFill>
        <p:spPr>
          <a:xfrm>
            <a:off x="5567782" y="3952951"/>
            <a:ext cx="152705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891479" y="3919118"/>
            <a:ext cx="14968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City Ops Leads (x2)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5491886" y="4410151"/>
            <a:ext cx="1942186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Executing ground operations: dealer onboarding, device installs, and logistics.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5491886" y="5915254"/>
            <a:ext cx="638251" cy="181051"/>
          </a:xfrm>
          <a:prstGeom prst="roundRect">
            <a:avLst>
              <a:gd name="adj" fmla="val 21265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5682082" y="5915254"/>
            <a:ext cx="52486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 Hire </a:t>
            </a:r>
            <a:endParaRPr lang="en-US" sz="8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548579" y="5958230"/>
            <a:ext cx="95098" cy="95098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746797" y="3705149"/>
            <a:ext cx="3877056" cy="2553005"/>
          </a:xfrm>
          <a:prstGeom prst="roundRect">
            <a:avLst>
              <a:gd name="adj" fmla="val 320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8194853" y="3905402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Advisory Board </a:t>
            </a:r>
            <a:endParaRPr lang="en-US" sz="10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-1507" r="-1507" t="0" b="0"/>
          <a:stretch/>
        </p:blipFill>
        <p:spPr>
          <a:xfrm>
            <a:off x="7947050" y="3938321"/>
            <a:ext cx="171907" cy="133502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7947050" y="4257446"/>
            <a:ext cx="3476549" cy="523951"/>
          </a:xfrm>
          <a:prstGeom prst="roundRect">
            <a:avLst>
              <a:gd name="adj" fmla="val 50769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8052206" y="4386377"/>
            <a:ext cx="267005" cy="26700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128102" y="4462272"/>
            <a:ext cx="114300" cy="1143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413394" y="4362602"/>
            <a:ext cx="8823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NBFC Veteran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8413394" y="4533595"/>
            <a:ext cx="92994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Lending Strategy</a:t>
            </a:r>
            <a:endParaRPr lang="en-US" sz="800" dirty="0"/>
          </a:p>
        </p:txBody>
      </p:sp>
      <p:sp>
        <p:nvSpPr>
          <p:cNvPr id="43" name="Shape 31"/>
          <p:cNvSpPr/>
          <p:nvPr/>
        </p:nvSpPr>
        <p:spPr>
          <a:xfrm>
            <a:off x="7947050" y="4895698"/>
            <a:ext cx="3476549" cy="523951"/>
          </a:xfrm>
          <a:prstGeom prst="roundRect">
            <a:avLst>
              <a:gd name="adj" fmla="val 50769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8052206" y="5024628"/>
            <a:ext cx="267005" cy="26700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8132674" y="5100523"/>
            <a:ext cx="105156" cy="1143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8413394" y="5000854"/>
            <a:ext cx="12472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 Industry Expert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8413394" y="5171846"/>
            <a:ext cx="11247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Dynamics</a:t>
            </a:r>
            <a:endParaRPr lang="en-US" sz="800" dirty="0"/>
          </a:p>
        </p:txBody>
      </p:sp>
      <p:sp>
        <p:nvSpPr>
          <p:cNvPr id="48" name="Shape 35"/>
          <p:cNvSpPr/>
          <p:nvPr/>
        </p:nvSpPr>
        <p:spPr>
          <a:xfrm>
            <a:off x="7947050" y="5533949"/>
            <a:ext cx="3476549" cy="523951"/>
          </a:xfrm>
          <a:prstGeom prst="roundRect">
            <a:avLst>
              <a:gd name="adj" fmla="val 50769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8052206" y="5662879"/>
            <a:ext cx="267005" cy="26700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128102" y="5738774"/>
            <a:ext cx="114300" cy="114300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413394" y="5639105"/>
            <a:ext cx="10771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Fintech Investor</a:t>
            </a:r>
            <a:endParaRPr lang="en-US" sz="900" dirty="0"/>
          </a:p>
        </p:txBody>
      </p:sp>
      <p:sp>
        <p:nvSpPr>
          <p:cNvPr id="52" name="Text 38"/>
          <p:cNvSpPr txBox="1"/>
          <p:nvPr/>
        </p:nvSpPr>
        <p:spPr>
          <a:xfrm>
            <a:off x="8413394" y="5810098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&amp; Scale</a:t>
            </a:r>
            <a:endParaRPr lang="en-US" sz="800" dirty="0"/>
          </a:p>
        </p:txBody>
      </p:sp>
      <p:sp>
        <p:nvSpPr>
          <p:cNvPr id="53" name="Shape 39"/>
          <p:cNvSpPr/>
          <p:nvPr/>
        </p:nvSpPr>
        <p:spPr>
          <a:xfrm>
            <a:off x="571500" y="1543507"/>
            <a:ext cx="5391302" cy="1705356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54" name="Shape 40"/>
          <p:cNvSpPr/>
          <p:nvPr/>
        </p:nvSpPr>
        <p:spPr>
          <a:xfrm>
            <a:off x="571500" y="1543507"/>
            <a:ext cx="38405" cy="1686154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809244" y="1781251"/>
            <a:ext cx="761695" cy="761695"/>
          </a:xfrm>
          <a:prstGeom prst="ellipse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rcRect l="-107" r="-107" t="0" b="0"/>
          <a:stretch/>
        </p:blipFill>
        <p:spPr>
          <a:xfrm>
            <a:off x="1057046" y="2009851"/>
            <a:ext cx="267005" cy="304495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1762049" y="1781251"/>
            <a:ext cx="4077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/ Co-founder</a:t>
            </a:r>
            <a:endParaRPr lang="en-US" sz="800" dirty="0"/>
          </a:p>
        </p:txBody>
      </p:sp>
      <p:sp>
        <p:nvSpPr>
          <p:cNvPr id="58" name="Text 43"/>
          <p:cNvSpPr txBox="1"/>
          <p:nvPr/>
        </p:nvSpPr>
        <p:spPr>
          <a:xfrm>
            <a:off x="1762049" y="1976018"/>
            <a:ext cx="4077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{Founder Name}</a:t>
            </a:r>
            <a:endParaRPr lang="en-US" sz="1500" dirty="0"/>
          </a:p>
        </p:txBody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762049" y="2404872"/>
            <a:ext cx="57607" cy="57607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1895551" y="2338121"/>
            <a:ext cx="20519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&amp; Fundraising Strategy</a:t>
            </a:r>
            <a:endParaRPr lang="en-US" sz="900" dirty="0"/>
          </a:p>
        </p:txBody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762049" y="2648102"/>
            <a:ext cx="57607" cy="57607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1895551" y="2581351"/>
            <a:ext cx="19613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NBFC &amp; Dealer Partnerships</a:t>
            </a:r>
            <a:endParaRPr lang="en-US" sz="900" dirty="0"/>
          </a:p>
        </p:txBody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762049" y="2890418"/>
            <a:ext cx="57607" cy="57607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1895551" y="2824582"/>
            <a:ext cx="19997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Compliance Lead</a:t>
            </a:r>
            <a:endParaRPr lang="en-US" sz="900" dirty="0"/>
          </a:p>
        </p:txBody>
      </p:sp>
      <p:sp>
        <p:nvSpPr>
          <p:cNvPr id="65" name="Shape 47"/>
          <p:cNvSpPr/>
          <p:nvPr/>
        </p:nvSpPr>
        <p:spPr>
          <a:xfrm>
            <a:off x="6243523" y="1543507"/>
            <a:ext cx="5381244" cy="1705356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66" name="Shape 48"/>
          <p:cNvSpPr/>
          <p:nvPr/>
        </p:nvSpPr>
        <p:spPr>
          <a:xfrm>
            <a:off x="6243523" y="1543507"/>
            <a:ext cx="38405" cy="1686154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7" name="Image 16" descr="preencoded.png">    </p:cNvPr>
          <p:cNvPicPr>
            <a:picLocks noChangeAspect="1"/>
          </p:cNvPicPr>
          <p:nvPr/>
        </p:nvPicPr>
        <p:blipFill>
          <a:blip r:embed="rId17"/>
          <a:srcRect l="-393" r="-393" t="0" b="0"/>
          <a:stretch/>
        </p:blipFill>
        <p:spPr>
          <a:xfrm>
            <a:off x="6243523" y="1552651"/>
            <a:ext cx="38405" cy="1686154"/>
          </a:xfrm>
          <a:prstGeom prst="rect">
            <a:avLst/>
          </a:prstGeom>
        </p:spPr>
      </p:pic>
      <p:sp>
        <p:nvSpPr>
          <p:cNvPr id="68" name="Shape 49"/>
          <p:cNvSpPr/>
          <p:nvPr/>
        </p:nvSpPr>
        <p:spPr>
          <a:xfrm>
            <a:off x="6472123" y="1781251"/>
            <a:ext cx="761695" cy="761695"/>
          </a:xfrm>
          <a:prstGeom prst="ellipse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69" name="Image 17" descr="preencoded.png">    </p:cNvPr>
          <p:cNvPicPr>
            <a:picLocks noChangeAspect="1"/>
          </p:cNvPicPr>
          <p:nvPr/>
        </p:nvPicPr>
        <p:blipFill>
          <a:blip r:embed="rId18"/>
          <a:srcRect l="-90" r="-90" t="0" b="0"/>
          <a:stretch/>
        </p:blipFill>
        <p:spPr>
          <a:xfrm>
            <a:off x="6662318" y="2009851"/>
            <a:ext cx="381305" cy="304495"/>
          </a:xfrm>
          <a:prstGeom prst="rect">
            <a:avLst/>
          </a:prstGeom>
        </p:spPr>
      </p:pic>
      <p:sp>
        <p:nvSpPr>
          <p:cNvPr id="70" name="Text 50"/>
          <p:cNvSpPr txBox="1"/>
          <p:nvPr/>
        </p:nvSpPr>
        <p:spPr>
          <a:xfrm>
            <a:off x="7424928" y="1781251"/>
            <a:ext cx="4077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 / Co-founder</a:t>
            </a:r>
            <a:endParaRPr lang="en-US" sz="800" dirty="0"/>
          </a:p>
        </p:txBody>
      </p:sp>
      <p:sp>
        <p:nvSpPr>
          <p:cNvPr id="71" name="Text 51"/>
          <p:cNvSpPr txBox="1"/>
          <p:nvPr/>
        </p:nvSpPr>
        <p:spPr>
          <a:xfrm>
            <a:off x="7424928" y="1976018"/>
            <a:ext cx="4077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{Founder Name}</a:t>
            </a:r>
            <a:endParaRPr lang="en-US" sz="1500" dirty="0"/>
          </a:p>
        </p:txBody>
      </p:sp>
      <p:pic>
        <p:nvPicPr>
          <p:cNvPr id="72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7424928" y="2404872"/>
            <a:ext cx="57607" cy="57607"/>
          </a:xfrm>
          <a:prstGeom prst="rect">
            <a:avLst/>
          </a:prstGeom>
        </p:spPr>
      </p:pic>
      <p:sp>
        <p:nvSpPr>
          <p:cNvPr id="73" name="Text 52"/>
          <p:cNvSpPr txBox="1"/>
          <p:nvPr/>
        </p:nvSpPr>
        <p:spPr>
          <a:xfrm>
            <a:off x="7558430" y="2338121"/>
            <a:ext cx="17346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Platform Architecture</a:t>
            </a:r>
            <a:endParaRPr lang="en-US" sz="900" dirty="0"/>
          </a:p>
        </p:txBody>
      </p:sp>
      <p:pic>
        <p:nvPicPr>
          <p:cNvPr id="74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7424928" y="2648102"/>
            <a:ext cx="57607" cy="57607"/>
          </a:xfrm>
          <a:prstGeom prst="rect">
            <a:avLst/>
          </a:prstGeom>
        </p:spPr>
      </p:pic>
      <p:sp>
        <p:nvSpPr>
          <p:cNvPr id="75" name="Text 53"/>
          <p:cNvSpPr txBox="1"/>
          <p:nvPr/>
        </p:nvSpPr>
        <p:spPr>
          <a:xfrm>
            <a:off x="7558430" y="2581351"/>
            <a:ext cx="19046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Engine &amp; Data Pipeline</a:t>
            </a:r>
            <a:endParaRPr lang="en-US" sz="900" dirty="0"/>
          </a:p>
        </p:txBody>
      </p:sp>
      <p:pic>
        <p:nvPicPr>
          <p:cNvPr id="76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7424928" y="2890418"/>
            <a:ext cx="57607" cy="57607"/>
          </a:xfrm>
          <a:prstGeom prst="rect">
            <a:avLst/>
          </a:prstGeom>
        </p:spPr>
      </p:pic>
      <p:sp>
        <p:nvSpPr>
          <p:cNvPr id="77" name="Text 54"/>
          <p:cNvSpPr txBox="1"/>
          <p:nvPr/>
        </p:nvSpPr>
        <p:spPr>
          <a:xfrm>
            <a:off x="7558430" y="2824582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Privacy (DPDP)</a:t>
            </a:r>
            <a:endParaRPr lang="en-US" sz="900" dirty="0"/>
          </a:p>
        </p:txBody>
      </p:sp>
      <p:sp>
        <p:nvSpPr>
          <p:cNvPr id="78" name="Shape 55"/>
          <p:cNvSpPr/>
          <p:nvPr/>
        </p:nvSpPr>
        <p:spPr>
          <a:xfrm>
            <a:off x="571500" y="6638544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9" name="Text 56"/>
          <p:cNvSpPr txBox="1"/>
          <p:nvPr/>
        </p:nvSpPr>
        <p:spPr>
          <a:xfrm>
            <a:off x="571500" y="6838798"/>
            <a:ext cx="437540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deep domain expertise across finance, tech, and operations</a:t>
            </a:r>
            <a:endParaRPr lang="en-US" sz="900" dirty="0"/>
          </a:p>
        </p:txBody>
      </p:sp>
      <p:sp>
        <p:nvSpPr>
          <p:cNvPr id="80" name="Text 57"/>
          <p:cNvSpPr txBox="1"/>
          <p:nvPr/>
        </p:nvSpPr>
        <p:spPr>
          <a:xfrm>
            <a:off x="11481206" y="6838798"/>
            <a:ext cx="219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1000" dirty="0"/>
          </a:p>
        </p:txBody>
      </p:sp>
      <p:pic>
        <p:nvPicPr>
          <p:cNvPr id="81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529" b="-529"/>
          <a:stretch/>
        </p:blipFill>
        <p:spPr>
          <a:xfrm>
            <a:off x="10162642" y="381305"/>
            <a:ext cx="1466698" cy="295351"/>
          </a:xfrm>
          <a:prstGeom prst="rect">
            <a:avLst/>
          </a:prstGeom>
        </p:spPr>
      </p:pic>
      <p:sp>
        <p:nvSpPr>
          <p:cNvPr id="82" name="Text 58"/>
          <p:cNvSpPr/>
          <p:nvPr/>
        </p:nvSpPr>
        <p:spPr>
          <a:xfrm>
            <a:off x="10448849" y="381305"/>
            <a:ext cx="123992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#9 Addressed </a:t>
            </a:r>
            <a:endParaRPr lang="en-US" sz="800" dirty="0"/>
          </a:p>
        </p:txBody>
      </p:sp>
      <p:pic>
        <p:nvPicPr>
          <p:cNvPr id="83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0286086" y="473659"/>
            <a:ext cx="105156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29207" y="3524098"/>
            <a:ext cx="4762195" cy="4762195"/>
          </a:xfrm>
          <a:prstGeom prst="ellips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55056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&amp; Milestones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3602"/>
            <a:ext cx="5610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Deploying capital to achieve Series Seed readiness within 12 months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4781398"/>
            <a:ext cx="5333695" cy="3124505"/>
          </a:xfrm>
          <a:prstGeom prst="roundRect">
            <a:avLst>
              <a:gd name="adj" fmla="val 21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3349" y="5419649"/>
            <a:ext cx="500999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3349" y="5095951"/>
            <a:ext cx="95098" cy="9509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14654" y="5171846"/>
            <a:ext cx="19504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platform, risk engine, apps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147158" y="5171846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3349" y="6020410"/>
            <a:ext cx="500999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3349" y="5695798"/>
            <a:ext cx="95098" cy="9509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14654" y="5772607"/>
            <a:ext cx="16102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CTO, BD, Risk, Ops leads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142586" y="5772607"/>
            <a:ext cx="609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3349" y="6620256"/>
            <a:ext cx="500999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3349" y="6295644"/>
            <a:ext cx="95098" cy="9509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14654" y="6372454"/>
            <a:ext cx="19842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hardware, dealer activation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168189" y="6372454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33349" y="7220102"/>
            <a:ext cx="500999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3349" y="6896405"/>
            <a:ext cx="95098" cy="9509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14654" y="6972300"/>
            <a:ext cx="1224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cities, 20 dealers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141671" y="6972300"/>
            <a:ext cx="609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33349" y="7496251"/>
            <a:ext cx="95098" cy="9509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14654" y="7572146"/>
            <a:ext cx="142097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BIS, DPDP compliance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136185" y="7572146"/>
            <a:ext cx="609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5%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534302" y="1543507"/>
            <a:ext cx="5201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Milestones Unlocked (≤12 Months) </a:t>
            </a:r>
            <a:endParaRPr lang="en-US" sz="13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6286500" y="1585570"/>
            <a:ext cx="152705" cy="171907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6286500" y="7119518"/>
            <a:ext cx="5333695" cy="790956"/>
          </a:xfrm>
          <a:prstGeom prst="roundRect">
            <a:avLst>
              <a:gd name="adj" fmla="val 33429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76695" y="7310628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Outcome: Series Seed Ready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6476695" y="7543800"/>
            <a:ext cx="29471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De-risked unit economics + Proven scalability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0272370" y="7370064"/>
            <a:ext cx="1162202" cy="286207"/>
          </a:xfrm>
          <a:prstGeom prst="roundRect">
            <a:avLst>
              <a:gd name="adj" fmla="val 127796"/>
            </a:avLst>
          </a:prstGeom>
          <a:solidFill>
            <a:srgbClr val="2DD4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0272370" y="7370064"/>
            <a:ext cx="121981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Investable Asset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923544" y="4981651"/>
            <a:ext cx="85679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/ MVP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5123383" y="4953305"/>
            <a:ext cx="62362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₹3.2 Cr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923544" y="5581498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5116982" y="5553151"/>
            <a:ext cx="635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₹2.0 Cr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923544" y="6181344"/>
            <a:ext cx="12243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Capital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5148986" y="6152998"/>
            <a:ext cx="6007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₹1.6 Cr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923544" y="6782105"/>
            <a:ext cx="12856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GTM &amp; Expansion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5116068" y="6752844"/>
            <a:ext cx="635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₹0.8 Cr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923544" y="7381951"/>
            <a:ext cx="11978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Regulatory/Ops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5110582" y="7353605"/>
            <a:ext cx="635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₹0.4 Cr</a:t>
            </a:r>
            <a:endParaRPr lang="en-US" sz="1200" dirty="0"/>
          </a:p>
        </p:txBody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rcRect l="-2" r="-2" t="0" b="0"/>
          <a:stretch/>
        </p:blipFill>
        <p:spPr>
          <a:xfrm>
            <a:off x="571500" y="1543507"/>
            <a:ext cx="5333695" cy="3047695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2674620" y="2776118"/>
            <a:ext cx="11329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₹8 Cr</a:t>
            </a:r>
            <a:endParaRPr lang="en-US" sz="2700" dirty="0"/>
          </a:p>
        </p:txBody>
      </p:sp>
      <p:sp>
        <p:nvSpPr>
          <p:cNvPr id="47" name="Text 42"/>
          <p:cNvSpPr txBox="1"/>
          <p:nvPr/>
        </p:nvSpPr>
        <p:spPr>
          <a:xfrm>
            <a:off x="2768803" y="3157423"/>
            <a:ext cx="9436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Raise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6286500" y="2085746"/>
            <a:ext cx="5333695" cy="1009498"/>
          </a:xfrm>
          <a:prstGeom prst="roundRect">
            <a:avLst>
              <a:gd name="adj" fmla="val 20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6286500" y="2085746"/>
            <a:ext cx="38405" cy="9829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486754" y="22475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42" b="-842"/>
          <a:stretch/>
        </p:blipFill>
        <p:spPr>
          <a:xfrm>
            <a:off x="6581851" y="2352751"/>
            <a:ext cx="190195" cy="171907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7019849" y="2247595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3,000 Batteries Under Management</a:t>
            </a:r>
            <a:endParaRPr lang="en-US" sz="1200" dirty="0"/>
          </a:p>
        </p:txBody>
      </p:sp>
      <p:sp>
        <p:nvSpPr>
          <p:cNvPr id="53" name="Text 47"/>
          <p:cNvSpPr txBox="1"/>
          <p:nvPr/>
        </p:nvSpPr>
        <p:spPr>
          <a:xfrm>
            <a:off x="7019849" y="2514600"/>
            <a:ext cx="479511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Achieving critical mass of data points to validate risk models.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7019849" y="2745029"/>
            <a:ext cx="733349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7019849" y="2745029"/>
            <a:ext cx="810158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KPI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6286500" y="3240634"/>
            <a:ext cx="5333695" cy="1009498"/>
          </a:xfrm>
          <a:prstGeom prst="roundRect">
            <a:avLst>
              <a:gd name="adj" fmla="val 20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286500" y="3240634"/>
            <a:ext cx="9144" cy="1009498"/>
          </a:xfrm>
          <a:prstGeom prst="roundRect">
            <a:avLst>
              <a:gd name="adj" fmla="val 2264151"/>
            </a:avLst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6286500" y="3240634"/>
            <a:ext cx="38405" cy="9829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6486754" y="340248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90995" y="3506724"/>
            <a:ext cx="171907" cy="171907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7019849" y="3402482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NBFC API Integrations</a:t>
            </a:r>
            <a:endParaRPr lang="en-US" sz="1200" dirty="0"/>
          </a:p>
        </p:txBody>
      </p:sp>
      <p:sp>
        <p:nvSpPr>
          <p:cNvPr id="62" name="Text 55"/>
          <p:cNvSpPr txBox="1"/>
          <p:nvPr/>
        </p:nvSpPr>
        <p:spPr>
          <a:xfrm>
            <a:off x="7019849" y="3669487"/>
            <a:ext cx="48691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data pipe with lending partners for automated underwriting.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7019849" y="3899916"/>
            <a:ext cx="1181405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7"/>
          <p:cNvSpPr txBox="1"/>
          <p:nvPr/>
        </p:nvSpPr>
        <p:spPr>
          <a:xfrm>
            <a:off x="7019849" y="3899916"/>
            <a:ext cx="125730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Validation</a:t>
            </a:r>
            <a:endParaRPr lang="en-US" sz="800" dirty="0"/>
          </a:p>
        </p:txBody>
      </p:sp>
      <p:sp>
        <p:nvSpPr>
          <p:cNvPr id="65" name="Shape 58"/>
          <p:cNvSpPr/>
          <p:nvPr/>
        </p:nvSpPr>
        <p:spPr>
          <a:xfrm>
            <a:off x="6286500" y="4394606"/>
            <a:ext cx="5333695" cy="1009498"/>
          </a:xfrm>
          <a:prstGeom prst="roundRect">
            <a:avLst>
              <a:gd name="adj" fmla="val 20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6286500" y="4394606"/>
            <a:ext cx="9144" cy="1009498"/>
          </a:xfrm>
          <a:prstGeom prst="roundRect">
            <a:avLst>
              <a:gd name="adj" fmla="val 2264151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6286500" y="4394606"/>
            <a:ext cx="38405" cy="9829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6486754" y="455645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42" b="-842"/>
          <a:stretch/>
        </p:blipFill>
        <p:spPr>
          <a:xfrm>
            <a:off x="6581851" y="4661611"/>
            <a:ext cx="190195" cy="171907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7019849" y="4556455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Cities Live Operations</a:t>
            </a:r>
            <a:endParaRPr lang="en-US" sz="1200" dirty="0"/>
          </a:p>
        </p:txBody>
      </p:sp>
      <p:sp>
        <p:nvSpPr>
          <p:cNvPr id="71" name="Text 63"/>
          <p:cNvSpPr txBox="1"/>
          <p:nvPr/>
        </p:nvSpPr>
        <p:spPr>
          <a:xfrm>
            <a:off x="7019849" y="4823460"/>
            <a:ext cx="457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Proving the GTM playbook works across different geographies.</a:t>
            </a:r>
            <a:endParaRPr lang="en-US" sz="900" dirty="0"/>
          </a:p>
        </p:txBody>
      </p:sp>
      <p:sp>
        <p:nvSpPr>
          <p:cNvPr id="72" name="Shape 64"/>
          <p:cNvSpPr/>
          <p:nvPr/>
        </p:nvSpPr>
        <p:spPr>
          <a:xfrm>
            <a:off x="7019849" y="5053889"/>
            <a:ext cx="875995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5"/>
          <p:cNvSpPr txBox="1"/>
          <p:nvPr/>
        </p:nvSpPr>
        <p:spPr>
          <a:xfrm>
            <a:off x="7019849" y="5053889"/>
            <a:ext cx="9528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Proof</a:t>
            </a:r>
            <a:endParaRPr lang="en-US" sz="800" dirty="0"/>
          </a:p>
        </p:txBody>
      </p:sp>
      <p:sp>
        <p:nvSpPr>
          <p:cNvPr id="74" name="Shape 66"/>
          <p:cNvSpPr/>
          <p:nvPr/>
        </p:nvSpPr>
        <p:spPr>
          <a:xfrm>
            <a:off x="571500" y="8287207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571500" y="8486546"/>
            <a:ext cx="38715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capital allocation strategy focused on metric validation</a:t>
            </a:r>
            <a:endParaRPr lang="en-US" sz="900" dirty="0"/>
          </a:p>
        </p:txBody>
      </p:sp>
      <p:sp>
        <p:nvSpPr>
          <p:cNvPr id="76" name="Text 68"/>
          <p:cNvSpPr txBox="1"/>
          <p:nvPr/>
        </p:nvSpPr>
        <p:spPr>
          <a:xfrm>
            <a:off x="11484864" y="8486546"/>
            <a:ext cx="219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1000" dirty="0"/>
          </a:p>
        </p:txBody>
      </p:sp>
      <p:pic>
        <p:nvPicPr>
          <p:cNvPr id="7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534" b="-534"/>
          <a:stretch/>
        </p:blipFill>
        <p:spPr>
          <a:xfrm>
            <a:off x="10162642" y="381305"/>
            <a:ext cx="1466698" cy="295351"/>
          </a:xfrm>
          <a:prstGeom prst="rect">
            <a:avLst/>
          </a:prstGeom>
        </p:spPr>
      </p:pic>
      <p:sp>
        <p:nvSpPr>
          <p:cNvPr id="78" name="Text 69"/>
          <p:cNvSpPr/>
          <p:nvPr/>
        </p:nvSpPr>
        <p:spPr>
          <a:xfrm>
            <a:off x="10448849" y="381305"/>
            <a:ext cx="123992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#8 Addressed </a:t>
            </a:r>
            <a:endParaRPr lang="en-US" sz="800" dirty="0"/>
          </a:p>
        </p:txBody>
      </p:sp>
      <p:pic>
        <p:nvPicPr>
          <p:cNvPr id="7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286086" y="473659"/>
            <a:ext cx="105156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82305" y="0"/>
            <a:ext cx="3810305" cy="38103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0195" y="190195"/>
            <a:ext cx="48280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E2E8F0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359267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9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 &amp; Vision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933602"/>
            <a:ext cx="397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the credit rails for India's EV economy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0" b="50"/>
          <a:stretch/>
        </p:blipFill>
        <p:spPr>
          <a:xfrm>
            <a:off x="10410444" y="619049"/>
            <a:ext cx="1209751" cy="3044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71500" y="3577133"/>
            <a:ext cx="4858207" cy="2971800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809244" y="3854196"/>
            <a:ext cx="133502" cy="152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19556" y="3815791"/>
            <a:ext cx="2947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12-Month Post-Raise Proof Points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09244" y="4615891"/>
            <a:ext cx="4381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837" r="-837" t="0" b="0"/>
          <a:stretch/>
        </p:blipFill>
        <p:spPr>
          <a:xfrm>
            <a:off x="809244" y="4320540"/>
            <a:ext cx="152705" cy="1335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37844" y="4286707"/>
            <a:ext cx="2154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Batteries Under Management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4656125" y="4272991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3,000+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809244" y="5120640"/>
            <a:ext cx="4381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1507" r="-1507" t="0" b="0"/>
          <a:stretch/>
        </p:blipFill>
        <p:spPr>
          <a:xfrm>
            <a:off x="809244" y="4825289"/>
            <a:ext cx="171907" cy="1335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57046" y="4792370"/>
            <a:ext cx="1371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NBFC Integrations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4424782" y="4777740"/>
            <a:ext cx="907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Partners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09244" y="5625389"/>
            <a:ext cx="4381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" y="5330038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19556" y="5297119"/>
            <a:ext cx="11905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 Facilitated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4635094" y="5282489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₹15 Cr+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09244" y="5834786"/>
            <a:ext cx="133502" cy="13350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019556" y="5801868"/>
            <a:ext cx="997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NPA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4843577" y="5787238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2%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5801868" y="4590288"/>
            <a:ext cx="5820156" cy="1343254"/>
          </a:xfrm>
          <a:prstGeom prst="roundRect">
            <a:avLst>
              <a:gd name="adj" fmla="val 1158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039612" y="4828032"/>
            <a:ext cx="381305" cy="381305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-1773" r="-1773" t="0" b="0"/>
          <a:stretch/>
        </p:blipFill>
        <p:spPr>
          <a:xfrm>
            <a:off x="6163970" y="4933188"/>
            <a:ext cx="133502" cy="171907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572707" y="4828032"/>
            <a:ext cx="4924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Now?</a:t>
            </a:r>
            <a:endParaRPr lang="en-US" sz="1200" dirty="0"/>
          </a:p>
        </p:txBody>
      </p:sp>
      <p:sp>
        <p:nvSpPr>
          <p:cNvPr id="31" name="Text 20"/>
          <p:cNvSpPr txBox="1"/>
          <p:nvPr/>
        </p:nvSpPr>
        <p:spPr>
          <a:xfrm>
            <a:off x="6572707" y="5132527"/>
            <a:ext cx="48865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Battery Waste Management Rules (2022) mandate recycling just as 1.2M new e-rickshaws hit the road. The regulatory and market timelines have converged perfectly.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5801868" y="6156655"/>
            <a:ext cx="582015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801868" y="6387998"/>
            <a:ext cx="123444" cy="12344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6001207" y="6356909"/>
            <a:ext cx="14173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founders@itarang.in</a:t>
            </a:r>
            <a:endParaRPr lang="en-US" sz="9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417613" y="6387998"/>
            <a:ext cx="123444" cy="123444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7617866" y="6356909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www.itarang.in</a:t>
            </a:r>
            <a:endParaRPr lang="en-US" sz="900" dirty="0"/>
          </a:p>
        </p:txBody>
      </p:sp>
      <p:sp>
        <p:nvSpPr>
          <p:cNvPr id="37" name="Text 24"/>
          <p:cNvSpPr txBox="1"/>
          <p:nvPr/>
        </p:nvSpPr>
        <p:spPr>
          <a:xfrm>
            <a:off x="10666476" y="6356909"/>
            <a:ext cx="11448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Build This.</a:t>
            </a:r>
            <a:endParaRPr lang="en-US" sz="9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2" b="-2"/>
          <a:stretch/>
        </p:blipFill>
        <p:spPr>
          <a:xfrm>
            <a:off x="571500" y="1543507"/>
            <a:ext cx="4849063" cy="180594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875995" y="1848002"/>
            <a:ext cx="43626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 Ask</a:t>
            </a:r>
            <a:endParaRPr lang="en-US" sz="1000" dirty="0"/>
          </a:p>
        </p:txBody>
      </p:sp>
      <p:sp>
        <p:nvSpPr>
          <p:cNvPr id="40" name="Text 26"/>
          <p:cNvSpPr txBox="1"/>
          <p:nvPr/>
        </p:nvSpPr>
        <p:spPr>
          <a:xfrm>
            <a:off x="875995" y="2124151"/>
            <a:ext cx="44394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₹8 Crore</a:t>
            </a:r>
            <a:endParaRPr lang="en-US" sz="4200" dirty="0"/>
          </a:p>
        </p:txBody>
      </p:sp>
      <p:sp>
        <p:nvSpPr>
          <p:cNvPr id="41" name="Text 27"/>
          <p:cNvSpPr txBox="1"/>
          <p:nvPr/>
        </p:nvSpPr>
        <p:spPr>
          <a:xfrm>
            <a:off x="875995" y="2787091"/>
            <a:ext cx="43626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Pre-Seed Round (Equity)</a:t>
            </a:r>
            <a:endParaRPr lang="en-US" sz="1300" dirty="0"/>
          </a:p>
        </p:txBody>
      </p:sp>
      <p:sp>
        <p:nvSpPr>
          <p:cNvPr id="42" name="Shape 28"/>
          <p:cNvSpPr/>
          <p:nvPr/>
        </p:nvSpPr>
        <p:spPr>
          <a:xfrm>
            <a:off x="5801868" y="1543507"/>
            <a:ext cx="5820156" cy="2819095"/>
          </a:xfrm>
          <a:prstGeom prst="roundRect">
            <a:avLst>
              <a:gd name="adj" fmla="val 35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29"/>
          <p:cNvSpPr/>
          <p:nvPr/>
        </p:nvSpPr>
        <p:spPr>
          <a:xfrm>
            <a:off x="6115507" y="3365906"/>
            <a:ext cx="51910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6115507" y="3566160"/>
            <a:ext cx="16861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10M+</a:t>
            </a:r>
            <a:endParaRPr lang="en-US" sz="1500" dirty="0"/>
          </a:p>
        </p:txBody>
      </p:sp>
      <p:sp>
        <p:nvSpPr>
          <p:cNvPr id="45" name="Text 31"/>
          <p:cNvSpPr txBox="1"/>
          <p:nvPr/>
        </p:nvSpPr>
        <p:spPr>
          <a:xfrm>
            <a:off x="6115507" y="3889858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Batteries Monitored</a:t>
            </a:r>
            <a:endParaRPr lang="en-US" sz="800" dirty="0"/>
          </a:p>
        </p:txBody>
      </p:sp>
      <p:sp>
        <p:nvSpPr>
          <p:cNvPr id="46" name="Text 32"/>
          <p:cNvSpPr txBox="1"/>
          <p:nvPr/>
        </p:nvSpPr>
        <p:spPr>
          <a:xfrm>
            <a:off x="7909560" y="3566160"/>
            <a:ext cx="16861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National</a:t>
            </a:r>
            <a:endParaRPr lang="en-US" sz="1500" dirty="0"/>
          </a:p>
        </p:txBody>
      </p:sp>
      <p:sp>
        <p:nvSpPr>
          <p:cNvPr id="47" name="Text 33"/>
          <p:cNvSpPr txBox="1"/>
          <p:nvPr/>
        </p:nvSpPr>
        <p:spPr>
          <a:xfrm>
            <a:off x="7909560" y="3889858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EPR Data Backbone</a:t>
            </a:r>
            <a:endParaRPr lang="en-US" sz="800" dirty="0"/>
          </a:p>
        </p:txBody>
      </p:sp>
      <p:sp>
        <p:nvSpPr>
          <p:cNvPr id="48" name="Text 34"/>
          <p:cNvSpPr txBox="1"/>
          <p:nvPr/>
        </p:nvSpPr>
        <p:spPr>
          <a:xfrm>
            <a:off x="9702698" y="3566160"/>
            <a:ext cx="16861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₹10Bn+</a:t>
            </a:r>
            <a:endParaRPr lang="en-US" sz="1500" dirty="0"/>
          </a:p>
        </p:txBody>
      </p:sp>
      <p:sp>
        <p:nvSpPr>
          <p:cNvPr id="49" name="Text 35"/>
          <p:cNvSpPr txBox="1"/>
          <p:nvPr/>
        </p:nvSpPr>
        <p:spPr>
          <a:xfrm>
            <a:off x="9702698" y="3889858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 Facilitated</a:t>
            </a:r>
            <a:endParaRPr lang="en-US" sz="800" dirty="0"/>
          </a:p>
        </p:txBody>
      </p:sp>
      <p:sp>
        <p:nvSpPr>
          <p:cNvPr id="50" name="Text 36"/>
          <p:cNvSpPr txBox="1"/>
          <p:nvPr/>
        </p:nvSpPr>
        <p:spPr>
          <a:xfrm>
            <a:off x="6115507" y="1857146"/>
            <a:ext cx="5277002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"iTarang isn't just financing batteries. We are building the **Battery Passport** and intelligence layer that makes the entire EV circular economy bankable."</a:t>
            </a:r>
            <a:endParaRPr lang="en-US" sz="1800" dirty="0"/>
          </a:p>
        </p:txBody>
      </p:sp>
      <p:sp>
        <p:nvSpPr>
          <p:cNvPr id="51" name="Shape 37"/>
          <p:cNvSpPr/>
          <p:nvPr/>
        </p:nvSpPr>
        <p:spPr>
          <a:xfrm>
            <a:off x="571500" y="6923837"/>
            <a:ext cx="110486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2" name="Text 38"/>
          <p:cNvSpPr txBox="1"/>
          <p:nvPr/>
        </p:nvSpPr>
        <p:spPr>
          <a:xfrm>
            <a:off x="571500" y="7123176"/>
            <a:ext cx="1666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53" name="Text 39"/>
          <p:cNvSpPr txBox="1"/>
          <p:nvPr/>
        </p:nvSpPr>
        <p:spPr>
          <a:xfrm>
            <a:off x="11483035" y="7123176"/>
            <a:ext cx="219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2026-03-20T14:08:36Z</dcterms:created>
  <dcterms:modified xsi:type="dcterms:W3CDTF">2026-03-20T14:08:36Z</dcterms:modified>
</cp:coreProperties>
</file>